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51fd8e20bd4df0" /><Relationship Type="http://schemas.openxmlformats.org/officeDocument/2006/relationships/extended-properties" Target="/docProps/app.xml" Id="R04a12f3784694a8b" /><Relationship Type="http://schemas.openxmlformats.org/officeDocument/2006/relationships/officeDocument" Target="/ppt/presentation.xml" Id="R82474685b4294149" /></Relationships>
</file>

<file path=ppt/presentation.xml><?xml version="1.0" encoding="utf-8"?>
<p:presentation xmlns:p="http://schemas.openxmlformats.org/presentationml/2006/main">
  <p:sldMasterIdLst>
    <p:sldMasterId xmlns:r="http://schemas.openxmlformats.org/officeDocument/2006/relationships" id="2147483648" r:id="R5150c02b150b42b7"/>
  </p:sldMasterIdLst>
  <p:notesMasterIdLst>
    <p:notesMasterId xmlns:r="http://schemas.openxmlformats.org/officeDocument/2006/relationships" r:id="R392512e797264e2b"/>
  </p:notesMasterIdLst>
  <p:sldIdLst>
    <p:sldId xmlns:r="http://schemas.openxmlformats.org/officeDocument/2006/relationships" id="256" r:id="R6d019b776ba44a4e"/>
    <p:sldId xmlns:r="http://schemas.openxmlformats.org/officeDocument/2006/relationships" id="257" r:id="R800840e84c6545ff"/>
    <p:sldId xmlns:r="http://schemas.openxmlformats.org/officeDocument/2006/relationships" id="258" r:id="R1792b6f8b59545ea"/>
    <p:sldId xmlns:r="http://schemas.openxmlformats.org/officeDocument/2006/relationships" id="259" r:id="Ra8348af2d5344abb"/>
    <p:sldId xmlns:r="http://schemas.openxmlformats.org/officeDocument/2006/relationships" id="260" r:id="Rbae2edd9e2014203"/>
    <p:sldId xmlns:r="http://schemas.openxmlformats.org/officeDocument/2006/relationships" id="261" r:id="R53c65f50ca714474"/>
    <p:sldId xmlns:r="http://schemas.openxmlformats.org/officeDocument/2006/relationships" id="262" r:id="R8c8bcf32ed9c403f"/>
    <p:sldId xmlns:r="http://schemas.openxmlformats.org/officeDocument/2006/relationships" id="263" r:id="R9eaba36c42e84629"/>
    <p:sldId xmlns:r="http://schemas.openxmlformats.org/officeDocument/2006/relationships" id="264" r:id="Ref70bf80a1b64155"/>
    <p:sldId xmlns:r="http://schemas.openxmlformats.org/officeDocument/2006/relationships" id="265" r:id="Rcc54b3382139417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5150c02b150b42b7" /><Relationship Type="http://schemas.openxmlformats.org/officeDocument/2006/relationships/theme" Target="/ppt/theme/theme1.xml" Id="Rd07c231abd6a4759" /><Relationship Type="http://schemas.openxmlformats.org/officeDocument/2006/relationships/notesMaster" Target="/ppt/notesMasters/notesMaster1.xml" Id="R392512e797264e2b" /><Relationship Type="http://schemas.openxmlformats.org/officeDocument/2006/relationships/presProps" Target="/ppt/presProps.xml" Id="R31757de5963346a0" /><Relationship Type="http://schemas.openxmlformats.org/officeDocument/2006/relationships/viewProps" Target="/ppt/viewProps.xml" Id="R78b5f7d9ac5e44ed" /><Relationship Type="http://schemas.openxmlformats.org/officeDocument/2006/relationships/tableStyles" Target="/ppt/tableStyles.xml" Id="Rfd1d2578d9624e20" /><Relationship Type="http://schemas.openxmlformats.org/officeDocument/2006/relationships/slide" Target="/ppt/slides/slide1.xml" Id="R6d019b776ba44a4e" /><Relationship Type="http://schemas.openxmlformats.org/officeDocument/2006/relationships/slide" Target="/ppt/slides/slide2.xml" Id="R800840e84c6545ff" /><Relationship Type="http://schemas.openxmlformats.org/officeDocument/2006/relationships/slide" Target="/ppt/slides/slide3.xml" Id="R1792b6f8b59545ea" /><Relationship Type="http://schemas.openxmlformats.org/officeDocument/2006/relationships/slide" Target="/ppt/slides/slide4.xml" Id="Ra8348af2d5344abb" /><Relationship Type="http://schemas.openxmlformats.org/officeDocument/2006/relationships/slide" Target="/ppt/slides/slide5.xml" Id="Rbae2edd9e2014203" /><Relationship Type="http://schemas.openxmlformats.org/officeDocument/2006/relationships/slide" Target="/ppt/slides/slide6.xml" Id="R53c65f50ca714474" /><Relationship Type="http://schemas.openxmlformats.org/officeDocument/2006/relationships/slide" Target="/ppt/slides/slide7.xml" Id="R8c8bcf32ed9c403f" /><Relationship Type="http://schemas.openxmlformats.org/officeDocument/2006/relationships/slide" Target="/ppt/slides/slide8.xml" Id="R9eaba36c42e84629" /><Relationship Type="http://schemas.openxmlformats.org/officeDocument/2006/relationships/slide" Target="/ppt/slides/slide9.xml" Id="Ref70bf80a1b64155" /><Relationship Type="http://schemas.openxmlformats.org/officeDocument/2006/relationships/slide" Target="/ppt/slides/slide10.xml" Id="Rcc54b338213941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6df8521b34c04a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655e5a879f4a1b" /><Relationship Type="http://schemas.openxmlformats.org/officeDocument/2006/relationships/notesMaster" Target="/ppt/notesMasters/notesMaster1.xml" Id="Rfd2c14d78ffc4b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139696a5af4fbc" /><Relationship Type="http://schemas.openxmlformats.org/officeDocument/2006/relationships/notesMaster" Target="/ppt/notesMasters/notesMaster1.xml" Id="R1380aff3b8ad43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e61d92678c4916" /><Relationship Type="http://schemas.openxmlformats.org/officeDocument/2006/relationships/notesMaster" Target="/ppt/notesMasters/notesMaster1.xml" Id="Rc138a5757eb449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5741423bc542a6" /><Relationship Type="http://schemas.openxmlformats.org/officeDocument/2006/relationships/notesMaster" Target="/ppt/notesMasters/notesMaster1.xml" Id="R75252ad8759c4c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8e716bd63a4578" /><Relationship Type="http://schemas.openxmlformats.org/officeDocument/2006/relationships/notesMaster" Target="/ppt/notesMasters/notesMaster1.xml" Id="R0a9615253af244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8338db97554831" /><Relationship Type="http://schemas.openxmlformats.org/officeDocument/2006/relationships/notesMaster" Target="/ppt/notesMasters/notesMaster1.xml" Id="Rd912c230b38e4f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499cab444945e5" /><Relationship Type="http://schemas.openxmlformats.org/officeDocument/2006/relationships/notesMaster" Target="/ppt/notesMasters/notesMaster1.xml" Id="R184e7f756a994e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ccb11129204c50" /><Relationship Type="http://schemas.openxmlformats.org/officeDocument/2006/relationships/notesMaster" Target="/ppt/notesMasters/notesMaster1.xml" Id="R2d818511ef164b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0c6d4769944a99" /><Relationship Type="http://schemas.openxmlformats.org/officeDocument/2006/relationships/notesMaster" Target="/ppt/notesMasters/notesMaster1.xml" Id="R37d26480f33644f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9f3ba465b54bee" /><Relationship Type="http://schemas.openxmlformats.org/officeDocument/2006/relationships/notesMaster" Target="/ppt/notesMasters/notesMaster1.xml" Id="Re8f4a942818f45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framing Milestone 2 as a release-hardening step rather than a rewrite. Emphasize that the baseline model remains intact.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Highlight that Milestone 2 is additive. It does not replace the earlier model path, only wraps it with stronger reporting and deployment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ingest, classify, map risk, then ground the explanation layer. Emphasize that the retrieval corpus is local and deterministic.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slide practical. Mention the exact start command and the fact that deployment fails closed only if the environment itself is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that the repo now records metrics and the confusion matrix in files, not just in the terminal. That is the artifact story reviewers care 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framing the work as a controlled extension of Milestone 1. Reviewers should hear that the system is safer, not just larger.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clean closing slide. The takeaway is simple: the app is stable, documented, and demoable.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walk the grader through the report sections from top to bottom.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 the validation story to the actual artifacts and explain that the smoke tests protect the release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on a confident release note: the deck opens, the app runs, and the repo is ready for grading.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f89fdb112643ac"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546A7D39-8ECB-4F1C-931C-CBA5B50AF181}"/>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7A4BE261-1390-4FE6-B3AD-7B50FBC9103C}"/>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946CB807-C966-4A87-B9AB-447F228EED7F}"/>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21028692-304E-4394-BE26-D58BA3C890F7}"/>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C1DC8211-31E6-422C-BAFD-AE1891C45EE3}"/>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db423e5cfc914c94" /><Relationship Type="http://schemas.openxmlformats.org/officeDocument/2006/relationships/slideLayout" Target="/ppt/slideLayouts/slideLayout2.xml" Id="Re2e8ca41bf1940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9085284-0830-42B6-B62C-9C5FCDF74EB4}"/>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e8ca41bf1940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f4b349e8ff8642bf" /><Relationship Type="http://schemas.openxmlformats.org/officeDocument/2006/relationships/notesSlide" Target="/ppt/notesSlides/notesSlide1.xml" Id="R1b77451e3f5544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dffa7be7ff8479b" /><Relationship Type="http://schemas.openxmlformats.org/officeDocument/2006/relationships/notesSlide" Target="/ppt/notesSlides/notesSlide2.xml" Id="Read22863395c41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b5c2da587e44473" /><Relationship Type="http://schemas.openxmlformats.org/officeDocument/2006/relationships/notesSlide" Target="/ppt/notesSlides/notesSlide3.xml" Id="Rbe96685e55b04f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34bed68cf864745" /><Relationship Type="http://schemas.openxmlformats.org/officeDocument/2006/relationships/notesSlide" Target="/ppt/notesSlides/notesSlide4.xml" Id="R62f85c23f2a94f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0da025c0e5d4b44" /><Relationship Type="http://schemas.openxmlformats.org/officeDocument/2006/relationships/image" Target="/ppt/media/image.png" Id="R49c21a30fd014cf0" /><Relationship Type="http://schemas.openxmlformats.org/officeDocument/2006/relationships/notesSlide" Target="/ppt/notesSlides/notesSlide5.xml" Id="R7a4cd25b35f241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50b2ba842f34679" /><Relationship Type="http://schemas.openxmlformats.org/officeDocument/2006/relationships/notesSlide" Target="/ppt/notesSlides/notesSlide6.xml" Id="R06e88d835bde40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2f8d56c8f0a4771" /><Relationship Type="http://schemas.openxmlformats.org/officeDocument/2006/relationships/notesSlide" Target="/ppt/notesSlides/notesSlide7.xml" Id="R77b4a1f8dac540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3e35e7d687b54c9e" /><Relationship Type="http://schemas.openxmlformats.org/officeDocument/2006/relationships/notesSlide" Target="/ppt/notesSlides/notesSlide8.xml" Id="R185f17b39b3246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92857290d0d14566" /><Relationship Type="http://schemas.openxmlformats.org/officeDocument/2006/relationships/notesSlide" Target="/ppt/notesSlides/notesSlide9.xml" Id="Rff03e6525e954ed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0d44126fc33f446c" /><Relationship Type="http://schemas.openxmlformats.org/officeDocument/2006/relationships/notesSlide" Target="/ppt/notesSlides/notesSlide10.xml" Id="R18db69ab86a54fbd" /></Relationships>
</file>

<file path=ppt/slides/slide1.xml><?xml version="1.0" encoding="utf-8"?>
<p:sld xmlns:p="http://schemas.openxmlformats.org/presentationml/2006/main">
  <p:cSld>
    <p:bg>
      <p:bgPr>
        <a:solidFill xmlns:a="http://schemas.openxmlformats.org/drawingml/2006/main">
          <a:srgbClr val="081423"/>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1DC8211-31E6-422C-BAFD-AE1891C45EE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5921FB74-4C86-43CA-B007-8E9825467190}"/>
              </a:ext>
            </a:extLst>
          </p:cNvPr>
          <p:cNvSpPr>
            <a:spLocks xmlns:a="http://schemas.openxmlformats.org/drawingml/2006/main" noGrp="1"/>
          </p:cNvSpPr>
          <p:nvPr/>
        </p:nvSpPr>
        <p:spPr>
          <a:xfrm xmlns:a="http://schemas.openxmlformats.org/drawingml/2006/main">
            <a:off x="7239000" y="-1143000"/>
            <a:ext cx="6477000" cy="6477000"/>
          </a:xfrm>
          <a:prstGeom xmlns:a="http://schemas.openxmlformats.org/drawingml/2006/main" prst="ellipse">
            <a:avLst/>
          </a:prstGeom>
          <a:solidFill xmlns:a="http://schemas.openxmlformats.org/drawingml/2006/main">
            <a:srgbClr val="2DB7A3"/>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9F831B56-49E4-4479-81F6-033597420F1C}"/>
              </a:ext>
            </a:extLst>
          </p:cNvPr>
          <p:cNvSpPr>
            <a:spLocks xmlns:a="http://schemas.openxmlformats.org/drawingml/2006/main" noGrp="1"/>
          </p:cNvSpPr>
          <p:nvPr/>
        </p:nvSpPr>
        <p:spPr>
          <a:xfrm xmlns:a="http://schemas.openxmlformats.org/drawingml/2006/main">
            <a:off x="9334500" y="4095750"/>
            <a:ext cx="4000500" cy="4000500"/>
          </a:xfrm>
          <a:prstGeom xmlns:a="http://schemas.openxmlformats.org/drawingml/2006/main" prst="ellipse">
            <a:avLst/>
          </a:prstGeom>
          <a:solidFill xmlns:a="http://schemas.openxmlformats.org/drawingml/2006/main">
            <a:srgbClr val="F0B35D"/>
          </a:soli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EE54ADEC-C060-4C96-8256-0B9604AB0E58}"/>
              </a:ext>
            </a:extLst>
          </p:cNvPr>
          <p:cNvSpPr>
            <a:spLocks xmlns:a="http://schemas.openxmlformats.org/drawingml/2006/main" noGrp="1"/>
          </p:cNvSpPr>
          <p:nvPr/>
        </p:nvSpPr>
        <p:spPr>
          <a:xfrm xmlns:a="http://schemas.openxmlformats.org/drawingml/2006/main">
            <a:off x="0" y="0"/>
            <a:ext cx="1238250" cy="6858000"/>
          </a:xfrm>
          <a:prstGeom xmlns:a="http://schemas.openxmlformats.org/drawingml/2006/main" prst="rect">
            <a:avLst/>
          </a:prstGeom>
          <a:solidFill xmlns:a="http://schemas.openxmlformats.org/drawingml/2006/main">
            <a:srgbClr val="11263F"/>
          </a:solidFill>
          <a:ln xmlns:a="http://schemas.openxmlformats.org/drawingml/2006/main">
            <a:noFill/>
          </a:ln>
        </p:spPr>
      </p:sp>
      <p:sp>
        <p:nvSpPr>
          <p:cNvPr id="5" name="">
            <a:extLst xmlns:a="http://schemas.openxmlformats.org/drawingml/2006/main">
              <a:ext uri="{FF2B5EF4-FFF2-40B4-BE49-F238E27FC236}">
                <a16:creationId xmlns:a16="http://schemas.microsoft.com/office/drawing/2014/main" id="{AAA7E372-EADE-4E34-A6E3-D9A325EE0041}"/>
              </a:ext>
            </a:extLst>
          </p:cNvPr>
          <p:cNvSpPr>
            <a:spLocks xmlns:a="http://schemas.openxmlformats.org/drawingml/2006/main" noGrp="1"/>
          </p:cNvSpPr>
          <p:nvPr/>
        </p:nvSpPr>
        <p:spPr>
          <a:xfrm xmlns:a="http://schemas.openxmlformats.org/drawingml/2006/main">
            <a:off x="1238250" y="0"/>
            <a:ext cx="190500" cy="6858000"/>
          </a:xfrm>
          <a:prstGeom xmlns:a="http://schemas.openxmlformats.org/drawingml/2006/main" prst="rect">
            <a:avLst/>
          </a:prstGeom>
          <a:solidFill xmlns:a="http://schemas.openxmlformats.org/drawingml/2006/main">
            <a:srgbClr val="2DB7A3"/>
          </a:solidFill>
          <a:ln xmlns:a="http://schemas.openxmlformats.org/drawingml/2006/main">
            <a:noFill/>
          </a:ln>
        </p:spPr>
      </p:sp>
      <p:sp>
        <p:nvSpPr>
          <p:cNvPr id="6" name="">
            <a:extLst xmlns:a="http://schemas.openxmlformats.org/drawingml/2006/main">
              <a:ext uri="{FF2B5EF4-FFF2-40B4-BE49-F238E27FC236}">
                <a16:creationId xmlns:a16="http://schemas.microsoft.com/office/drawing/2014/main" id="{1312971A-FEBF-4DA8-BE47-325473886F36}"/>
              </a:ext>
            </a:extLst>
          </p:cNvPr>
          <p:cNvSpPr>
            <a:spLocks xmlns:a="http://schemas.openxmlformats.org/drawingml/2006/main" noGrp="1"/>
          </p:cNvSpPr>
          <p:nvPr/>
        </p:nvSpPr>
        <p:spPr>
          <a:xfrm xmlns:a="http://schemas.openxmlformats.org/drawingml/2006/main">
            <a:off x="857250" y="952500"/>
            <a:ext cx="5715000" cy="1333500"/>
          </a:xfrm>
          <a:prstGeom xmlns:a="http://schemas.openxmlformats.org/drawingml/2006/main" prst="rect">
            <a:avLst/>
          </a:prstGeom>
          <a:solidFill xmlns:a="http://schemas.openxmlformats.org/drawingml/2006/main">
            <a:srgbClr val="081423"/>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DABB.ai</a:t>
            </a:r>
          </a:p>
          <a:p xmlns:a="http://schemas.openxmlformats.org/drawingml/2006/main">
            <a:pPr algn="l">
              <a:defRPr sz="2850" b="1">
                <a:solidFill>
                  <a:srgbClr val="FFFFFF"/>
                </a:solidFill>
              </a:defRPr>
            </a:pPr>
            <a:r>
              <a:rPr sz="2850" b="1">
                <a:solidFill>
                  <a:srgbClr val="FFFFFF"/>
                </a:solidFill>
              </a:rPr>
              <a:t>Milestone 2</a:t>
            </a:r>
          </a:p>
        </p:txBody>
      </p:sp>
      <p:sp>
        <p:nvSpPr>
          <p:cNvPr id="7" name="">
            <a:extLst xmlns:a="http://schemas.openxmlformats.org/drawingml/2006/main">
              <a:ext uri="{FF2B5EF4-FFF2-40B4-BE49-F238E27FC236}">
                <a16:creationId xmlns:a16="http://schemas.microsoft.com/office/drawing/2014/main" id="{016BEF37-8449-4B39-8525-F87C16900DAA}"/>
              </a:ext>
            </a:extLst>
          </p:cNvPr>
          <p:cNvSpPr>
            <a:spLocks xmlns:a="http://schemas.openxmlformats.org/drawingml/2006/main" noGrp="1"/>
          </p:cNvSpPr>
          <p:nvPr/>
        </p:nvSpPr>
        <p:spPr>
          <a:xfrm xmlns:a="http://schemas.openxmlformats.org/drawingml/2006/main">
            <a:off x="876300" y="2428875"/>
            <a:ext cx="5524500" cy="666750"/>
          </a:xfrm>
          <a:prstGeom xmlns:a="http://schemas.openxmlformats.org/drawingml/2006/main" prst="rect">
            <a:avLst/>
          </a:prstGeom>
          <a:solidFill xmlns:a="http://schemas.openxmlformats.org/drawingml/2006/main">
            <a:srgbClr val="081423"/>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500" b="0">
                <a:solidFill>
                  <a:srgbClr val="DCE7F5"/>
                </a:solidFill>
              </a:defRPr>
            </a:pPr>
            <a:r>
              <a:rPr sz="1500" b="0">
                <a:solidFill>
                  <a:srgbClr val="DCE7F5"/>
                </a:solidFill>
              </a:rPr>
              <a:t>Intelligent contract risk analysis with grounded reporting and public-host deployment</a:t>
            </a:r>
          </a:p>
        </p:txBody>
      </p:sp>
      <p:sp>
        <p:nvSpPr>
          <p:cNvPr id="8" name="">
            <a:extLst xmlns:a="http://schemas.openxmlformats.org/drawingml/2006/main">
              <a:ext uri="{FF2B5EF4-FFF2-40B4-BE49-F238E27FC236}">
                <a16:creationId xmlns:a16="http://schemas.microsoft.com/office/drawing/2014/main" id="{C8D92ED6-F39C-4032-8E64-F28E2BB47EE6}"/>
              </a:ext>
            </a:extLst>
          </p:cNvPr>
          <p:cNvSpPr>
            <a:spLocks xmlns:a="http://schemas.openxmlformats.org/drawingml/2006/main" noGrp="1"/>
          </p:cNvSpPr>
          <p:nvPr/>
        </p:nvSpPr>
        <p:spPr>
          <a:xfrm xmlns:a="http://schemas.openxmlformats.org/drawingml/2006/main">
            <a:off x="876300" y="3257550"/>
            <a:ext cx="5524500" cy="400050"/>
          </a:xfrm>
          <a:prstGeom xmlns:a="http://schemas.openxmlformats.org/drawingml/2006/main" prst="rect">
            <a:avLst/>
          </a:prstGeom>
          <a:solidFill xmlns:a="http://schemas.openxmlformats.org/drawingml/2006/main">
            <a:srgbClr val="081423"/>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B9C9DC"/>
                </a:solidFill>
              </a:defRPr>
            </a:pPr>
            <a:r>
              <a:rPr sz="1200" b="0">
                <a:solidFill>
                  <a:srgbClr val="B9C9DC"/>
                </a:solidFill>
              </a:rPr>
              <a:t>Birajit Saikia  |  Devaansh Kathuria  |  Abhey Dua  |  Bhavya Jain</a:t>
            </a:r>
          </a:p>
        </p:txBody>
      </p:sp>
      <p:sp>
        <p:nvSpPr>
          <p:cNvPr id="9" name="">
            <a:extLst xmlns:a="http://schemas.openxmlformats.org/drawingml/2006/main">
              <a:ext uri="{FF2B5EF4-FFF2-40B4-BE49-F238E27FC236}">
                <a16:creationId xmlns:a16="http://schemas.microsoft.com/office/drawing/2014/main" id="{F4CE061D-82DF-4994-A81A-397989C7E7BC}"/>
              </a:ext>
            </a:extLst>
          </p:cNvPr>
          <p:cNvSpPr>
            <a:spLocks xmlns:a="http://schemas.openxmlformats.org/drawingml/2006/main" noGrp="1"/>
          </p:cNvSpPr>
          <p:nvPr/>
        </p:nvSpPr>
        <p:spPr>
          <a:xfrm xmlns:a="http://schemas.openxmlformats.org/drawingml/2006/main">
            <a:off x="876300" y="3905250"/>
            <a:ext cx="1485900" cy="323850"/>
          </a:xfrm>
          <a:prstGeom xmlns:a="http://schemas.openxmlformats.org/drawingml/2006/main" prst="roundRect">
            <a:avLst>
              <a:gd name="adj" fmla="val 23529"/>
            </a:avLst>
          </a:prstGeom>
          <a:solidFill xmlns:a="http://schemas.openxmlformats.org/drawingml/2006/main">
            <a:srgbClr val="D9F5EF"/>
          </a:soli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4D092EFA-623F-49CD-9968-83269AFA2738}"/>
              </a:ext>
            </a:extLst>
          </p:cNvPr>
          <p:cNvSpPr>
            <a:spLocks xmlns:a="http://schemas.openxmlformats.org/drawingml/2006/main" noGrp="1"/>
          </p:cNvSpPr>
          <p:nvPr/>
        </p:nvSpPr>
        <p:spPr>
          <a:xfrm xmlns:a="http://schemas.openxmlformats.org/drawingml/2006/main">
            <a:off x="990600" y="3962400"/>
            <a:ext cx="1257300" cy="209550"/>
          </a:xfrm>
          <a:prstGeom xmlns:a="http://schemas.openxmlformats.org/drawingml/2006/main" prst="rect">
            <a:avLst/>
          </a:prstGeom>
          <a:solidFill xmlns:a="http://schemas.openxmlformats.org/drawingml/2006/main">
            <a:srgbClr val="D9F5E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050" b="1">
                <a:solidFill>
                  <a:srgbClr val="152235"/>
                </a:solidFill>
              </a:defRPr>
            </a:pPr>
            <a:r>
              <a:rPr sz="1050" b="1">
                <a:solidFill>
                  <a:srgbClr val="152235"/>
                </a:solidFill>
              </a:rPr>
              <a:t>Clause classifier</a:t>
            </a:r>
          </a:p>
        </p:txBody>
      </p:sp>
      <p:sp>
        <p:nvSpPr>
          <p:cNvPr id="11" name="">
            <a:extLst xmlns:a="http://schemas.openxmlformats.org/drawingml/2006/main">
              <a:ext uri="{FF2B5EF4-FFF2-40B4-BE49-F238E27FC236}">
                <a16:creationId xmlns:a16="http://schemas.microsoft.com/office/drawing/2014/main" id="{6539DC45-D242-40D9-AC83-9B265E953D01}"/>
              </a:ext>
            </a:extLst>
          </p:cNvPr>
          <p:cNvSpPr>
            <a:spLocks xmlns:a="http://schemas.openxmlformats.org/drawingml/2006/main" noGrp="1"/>
          </p:cNvSpPr>
          <p:nvPr/>
        </p:nvSpPr>
        <p:spPr>
          <a:xfrm xmlns:a="http://schemas.openxmlformats.org/drawingml/2006/main">
            <a:off x="2476500" y="3905250"/>
            <a:ext cx="1600200" cy="323850"/>
          </a:xfrm>
          <a:prstGeom xmlns:a="http://schemas.openxmlformats.org/drawingml/2006/main" prst="roundRect">
            <a:avLst>
              <a:gd name="adj" fmla="val 23529"/>
            </a:avLst>
          </a:prstGeom>
          <a:solidFill xmlns:a="http://schemas.openxmlformats.org/drawingml/2006/main">
            <a:srgbClr val="FFF2DD"/>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157D1369-DD05-41C0-BABB-031E15ACA1F4}"/>
              </a:ext>
            </a:extLst>
          </p:cNvPr>
          <p:cNvSpPr>
            <a:spLocks xmlns:a="http://schemas.openxmlformats.org/drawingml/2006/main" noGrp="1"/>
          </p:cNvSpPr>
          <p:nvPr/>
        </p:nvSpPr>
        <p:spPr>
          <a:xfrm xmlns:a="http://schemas.openxmlformats.org/drawingml/2006/main">
            <a:off x="2590800" y="3962400"/>
            <a:ext cx="1371600" cy="209550"/>
          </a:xfrm>
          <a:prstGeom xmlns:a="http://schemas.openxmlformats.org/drawingml/2006/main" prst="rect">
            <a:avLst/>
          </a:prstGeom>
          <a:solidFill xmlns:a="http://schemas.openxmlformats.org/drawingml/2006/main">
            <a:srgbClr val="FFF2DD"/>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050" b="1">
                <a:solidFill>
                  <a:srgbClr val="152235"/>
                </a:solidFill>
              </a:defRPr>
            </a:pPr>
            <a:r>
              <a:rPr sz="1050" b="1">
                <a:solidFill>
                  <a:srgbClr val="152235"/>
                </a:solidFill>
              </a:rPr>
              <a:t>Grounded report</a:t>
            </a:r>
          </a:p>
        </p:txBody>
      </p:sp>
      <p:sp>
        <p:nvSpPr>
          <p:cNvPr id="13" name="">
            <a:extLst xmlns:a="http://schemas.openxmlformats.org/drawingml/2006/main">
              <a:ext uri="{FF2B5EF4-FFF2-40B4-BE49-F238E27FC236}">
                <a16:creationId xmlns:a16="http://schemas.microsoft.com/office/drawing/2014/main" id="{82973DBB-62A4-4CEE-9177-D5B77568C3FB}"/>
              </a:ext>
            </a:extLst>
          </p:cNvPr>
          <p:cNvSpPr>
            <a:spLocks xmlns:a="http://schemas.openxmlformats.org/drawingml/2006/main" noGrp="1"/>
          </p:cNvSpPr>
          <p:nvPr/>
        </p:nvSpPr>
        <p:spPr>
          <a:xfrm xmlns:a="http://schemas.openxmlformats.org/drawingml/2006/main">
            <a:off x="4191000" y="3905250"/>
            <a:ext cx="1752600" cy="323850"/>
          </a:xfrm>
          <a:prstGeom xmlns:a="http://schemas.openxmlformats.org/drawingml/2006/main" prst="roundRect">
            <a:avLst>
              <a:gd name="adj" fmla="val 23529"/>
            </a:avLst>
          </a:prstGeom>
          <a:solidFill xmlns:a="http://schemas.openxmlformats.org/drawingml/2006/main">
            <a:srgbClr val="E8EFFB"/>
          </a:solidFill>
          <a:ln xmlns:a="http://schemas.openxmlformats.org/drawingml/2006/main">
            <a:noFill/>
          </a:ln>
        </p:spPr>
      </p:sp>
      <p:sp>
        <p:nvSpPr>
          <p:cNvPr id="14" name="">
            <a:extLst xmlns:a="http://schemas.openxmlformats.org/drawingml/2006/main">
              <a:ext uri="{FF2B5EF4-FFF2-40B4-BE49-F238E27FC236}">
                <a16:creationId xmlns:a16="http://schemas.microsoft.com/office/drawing/2014/main" id="{2B657722-3EAE-45BE-96D4-F392BB67697A}"/>
              </a:ext>
            </a:extLst>
          </p:cNvPr>
          <p:cNvSpPr>
            <a:spLocks xmlns:a="http://schemas.openxmlformats.org/drawingml/2006/main" noGrp="1"/>
          </p:cNvSpPr>
          <p:nvPr/>
        </p:nvSpPr>
        <p:spPr>
          <a:xfrm xmlns:a="http://schemas.openxmlformats.org/drawingml/2006/main">
            <a:off x="4305300" y="3962400"/>
            <a:ext cx="1524000" cy="209550"/>
          </a:xfrm>
          <a:prstGeom xmlns:a="http://schemas.openxmlformats.org/drawingml/2006/main" prst="rect">
            <a:avLst/>
          </a:prstGeom>
          <a:solidFill xmlns:a="http://schemas.openxmlformats.org/drawingml/2006/main">
            <a:srgbClr val="E8EF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050" b="1">
                <a:solidFill>
                  <a:srgbClr val="152235"/>
                </a:solidFill>
              </a:defRPr>
            </a:pPr>
            <a:r>
              <a:rPr sz="1050" b="1">
                <a:solidFill>
                  <a:srgbClr val="152235"/>
                </a:solidFill>
              </a:rPr>
              <a:t>Public deployment</a:t>
            </a:r>
          </a:p>
        </p:txBody>
      </p:sp>
      <p:sp>
        <p:nvSpPr>
          <p:cNvPr id="15" name="">
            <a:extLst xmlns:a="http://schemas.openxmlformats.org/drawingml/2006/main">
              <a:ext uri="{FF2B5EF4-FFF2-40B4-BE49-F238E27FC236}">
                <a16:creationId xmlns:a16="http://schemas.microsoft.com/office/drawing/2014/main" id="{E7A90AF5-F44B-4BB1-8772-B3E509A34C11}"/>
              </a:ext>
            </a:extLst>
          </p:cNvPr>
          <p:cNvSpPr>
            <a:spLocks xmlns:a="http://schemas.openxmlformats.org/drawingml/2006/main" noGrp="1"/>
          </p:cNvSpPr>
          <p:nvPr/>
        </p:nvSpPr>
        <p:spPr>
          <a:xfrm xmlns:a="http://schemas.openxmlformats.org/drawingml/2006/main">
            <a:off x="7239000" y="914400"/>
            <a:ext cx="4095750" cy="1295400"/>
          </a:xfrm>
          <a:prstGeom xmlns:a="http://schemas.openxmlformats.org/drawingml/2006/main" prst="roundRect">
            <a:avLst>
              <a:gd name="adj" fmla="val 5882"/>
            </a:avLst>
          </a:prstGeom>
          <a:solidFill xmlns:a="http://schemas.openxmlformats.org/drawingml/2006/main">
            <a:srgbClr val="F3F8FB"/>
          </a:solidFill>
          <a:ln xmlns:a="http://schemas.openxmlformats.org/drawingml/2006/main" w="9525">
            <a:solidFill>
              <a:srgbClr val="D8E1EB"/>
            </a:solidFill>
          </a:ln>
        </p:spPr>
      </p:sp>
      <p:sp>
        <p:nvSpPr>
          <p:cNvPr id="16" name="">
            <a:extLst xmlns:a="http://schemas.openxmlformats.org/drawingml/2006/main">
              <a:ext uri="{FF2B5EF4-FFF2-40B4-BE49-F238E27FC236}">
                <a16:creationId xmlns:a16="http://schemas.microsoft.com/office/drawing/2014/main" id="{FA4D2482-C78D-4326-8F07-9DC7C6B0F305}"/>
              </a:ext>
            </a:extLst>
          </p:cNvPr>
          <p:cNvSpPr>
            <a:spLocks xmlns:a="http://schemas.openxmlformats.org/drawingml/2006/main" noGrp="1"/>
          </p:cNvSpPr>
          <p:nvPr/>
        </p:nvSpPr>
        <p:spPr>
          <a:xfrm xmlns:a="http://schemas.openxmlformats.org/drawingml/2006/main">
            <a:off x="7391400" y="1066800"/>
            <a:ext cx="114300" cy="990600"/>
          </a:xfrm>
          <a:prstGeom xmlns:a="http://schemas.openxmlformats.org/drawingml/2006/main" prst="roundRect">
            <a:avLst>
              <a:gd name="adj" fmla="val 50000"/>
            </a:avLst>
          </a:prstGeom>
          <a:solidFill xmlns:a="http://schemas.openxmlformats.org/drawingml/2006/main">
            <a:srgbClr val="2DB7A3"/>
          </a:soli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2081EBBE-B0BA-4CBA-9B88-76232EBB0A0C}"/>
              </a:ext>
            </a:extLst>
          </p:cNvPr>
          <p:cNvSpPr>
            <a:spLocks xmlns:a="http://schemas.openxmlformats.org/drawingml/2006/main" noGrp="1"/>
          </p:cNvSpPr>
          <p:nvPr/>
        </p:nvSpPr>
        <p:spPr>
          <a:xfrm xmlns:a="http://schemas.openxmlformats.org/drawingml/2006/main">
            <a:off x="7620000" y="1085850"/>
            <a:ext cx="3562350" cy="323850"/>
          </a:xfrm>
          <a:prstGeom xmlns:a="http://schemas.openxmlformats.org/drawingml/2006/main" prst="rect">
            <a:avLst/>
          </a:prstGeom>
          <a:solidFill xmlns:a="http://schemas.openxmlformats.org/drawingml/2006/main">
            <a:srgbClr val="F3F8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What stays from Milestone 1</a:t>
            </a:r>
          </a:p>
        </p:txBody>
      </p:sp>
      <p:sp>
        <p:nvSpPr>
          <p:cNvPr id="18" name="">
            <a:extLst xmlns:a="http://schemas.openxmlformats.org/drawingml/2006/main">
              <a:ext uri="{FF2B5EF4-FFF2-40B4-BE49-F238E27FC236}">
                <a16:creationId xmlns:a16="http://schemas.microsoft.com/office/drawing/2014/main" id="{7FF680DD-F71A-477E-AEA4-6FF3EEB272CF}"/>
              </a:ext>
            </a:extLst>
          </p:cNvPr>
          <p:cNvSpPr>
            <a:spLocks xmlns:a="http://schemas.openxmlformats.org/drawingml/2006/main" noGrp="1"/>
          </p:cNvSpPr>
          <p:nvPr/>
        </p:nvSpPr>
        <p:spPr>
          <a:xfrm xmlns:a="http://schemas.openxmlformats.org/drawingml/2006/main">
            <a:off x="7620000" y="1466850"/>
            <a:ext cx="3562350" cy="609600"/>
          </a:xfrm>
          <a:prstGeom xmlns:a="http://schemas.openxmlformats.org/drawingml/2006/main" prst="rect">
            <a:avLst/>
          </a:prstGeom>
          <a:solidFill xmlns:a="http://schemas.openxmlformats.org/drawingml/2006/main">
            <a:srgbClr val="F3F8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TF-IDF features, logistic regression, risk mapping, and clause highlighting remain intact.</a:t>
            </a:r>
          </a:p>
        </p:txBody>
      </p:sp>
      <p:sp>
        <p:nvSpPr>
          <p:cNvPr id="19" name="">
            <a:extLst xmlns:a="http://schemas.openxmlformats.org/drawingml/2006/main">
              <a:ext uri="{FF2B5EF4-FFF2-40B4-BE49-F238E27FC236}">
                <a16:creationId xmlns:a16="http://schemas.microsoft.com/office/drawing/2014/main" id="{258ECECD-B1CE-444C-BB3D-F75E331B5B04}"/>
              </a:ext>
            </a:extLst>
          </p:cNvPr>
          <p:cNvSpPr>
            <a:spLocks xmlns:a="http://schemas.openxmlformats.org/drawingml/2006/main" noGrp="1"/>
          </p:cNvSpPr>
          <p:nvPr/>
        </p:nvSpPr>
        <p:spPr>
          <a:xfrm xmlns:a="http://schemas.openxmlformats.org/drawingml/2006/main">
            <a:off x="7239000" y="2428875"/>
            <a:ext cx="4095750" cy="1295400"/>
          </a:xfrm>
          <a:prstGeom xmlns:a="http://schemas.openxmlformats.org/drawingml/2006/main" prst="roundRect">
            <a:avLst>
              <a:gd name="adj" fmla="val 5882"/>
            </a:avLst>
          </a:prstGeom>
          <a:solidFill xmlns:a="http://schemas.openxmlformats.org/drawingml/2006/main">
            <a:srgbClr val="FFFAF1"/>
          </a:solidFill>
          <a:ln xmlns:a="http://schemas.openxmlformats.org/drawingml/2006/main" w="9525">
            <a:solidFill>
              <a:srgbClr val="D8E1EB"/>
            </a:solidFill>
          </a:ln>
        </p:spPr>
      </p:sp>
      <p:sp>
        <p:nvSpPr>
          <p:cNvPr id="20" name="">
            <a:extLst xmlns:a="http://schemas.openxmlformats.org/drawingml/2006/main">
              <a:ext uri="{FF2B5EF4-FFF2-40B4-BE49-F238E27FC236}">
                <a16:creationId xmlns:a16="http://schemas.microsoft.com/office/drawing/2014/main" id="{98AD92F0-8ED2-4F6C-9EE0-898373388DAE}"/>
              </a:ext>
            </a:extLst>
          </p:cNvPr>
          <p:cNvSpPr>
            <a:spLocks xmlns:a="http://schemas.openxmlformats.org/drawingml/2006/main" noGrp="1"/>
          </p:cNvSpPr>
          <p:nvPr/>
        </p:nvSpPr>
        <p:spPr>
          <a:xfrm xmlns:a="http://schemas.openxmlformats.org/drawingml/2006/main">
            <a:off x="7391400" y="2581275"/>
            <a:ext cx="114300" cy="990600"/>
          </a:xfrm>
          <a:prstGeom xmlns:a="http://schemas.openxmlformats.org/drawingml/2006/main" prst="roundRect">
            <a:avLst>
              <a:gd name="adj" fmla="val 50000"/>
            </a:avLst>
          </a:prstGeom>
          <a:solidFill xmlns:a="http://schemas.openxmlformats.org/drawingml/2006/main">
            <a:srgbClr val="F0B35D"/>
          </a:solidFill>
          <a:ln xmlns:a="http://schemas.openxmlformats.org/drawingml/2006/main">
            <a:noFill/>
          </a:ln>
        </p:spPr>
      </p:sp>
      <p:sp>
        <p:nvSpPr>
          <p:cNvPr id="21" name="">
            <a:extLst xmlns:a="http://schemas.openxmlformats.org/drawingml/2006/main">
              <a:ext uri="{FF2B5EF4-FFF2-40B4-BE49-F238E27FC236}">
                <a16:creationId xmlns:a16="http://schemas.microsoft.com/office/drawing/2014/main" id="{B7FE56EF-0439-452C-B1AF-CC6159EBF32D}"/>
              </a:ext>
            </a:extLst>
          </p:cNvPr>
          <p:cNvSpPr>
            <a:spLocks xmlns:a="http://schemas.openxmlformats.org/drawingml/2006/main" noGrp="1"/>
          </p:cNvSpPr>
          <p:nvPr/>
        </p:nvSpPr>
        <p:spPr>
          <a:xfrm xmlns:a="http://schemas.openxmlformats.org/drawingml/2006/main">
            <a:off x="7620000" y="2600325"/>
            <a:ext cx="3562350" cy="323850"/>
          </a:xfrm>
          <a:prstGeom xmlns:a="http://schemas.openxmlformats.org/drawingml/2006/main" prst="rect">
            <a:avLst/>
          </a:prstGeom>
          <a:solidFill xmlns:a="http://schemas.openxmlformats.org/drawingml/2006/main">
            <a:srgbClr val="FFFAF1"/>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What Milestone 2 adds</a:t>
            </a:r>
          </a:p>
        </p:txBody>
      </p:sp>
      <p:sp>
        <p:nvSpPr>
          <p:cNvPr id="22" name="">
            <a:extLst xmlns:a="http://schemas.openxmlformats.org/drawingml/2006/main">
              <a:ext uri="{FF2B5EF4-FFF2-40B4-BE49-F238E27FC236}">
                <a16:creationId xmlns:a16="http://schemas.microsoft.com/office/drawing/2014/main" id="{C52AFE62-61C5-4980-AD3A-1D973F5B7A26}"/>
              </a:ext>
            </a:extLst>
          </p:cNvPr>
          <p:cNvSpPr>
            <a:spLocks xmlns:a="http://schemas.openxmlformats.org/drawingml/2006/main" noGrp="1"/>
          </p:cNvSpPr>
          <p:nvPr/>
        </p:nvSpPr>
        <p:spPr>
          <a:xfrm xmlns:a="http://schemas.openxmlformats.org/drawingml/2006/main">
            <a:off x="7620000" y="2981325"/>
            <a:ext cx="3562350" cy="609600"/>
          </a:xfrm>
          <a:prstGeom xmlns:a="http://schemas.openxmlformats.org/drawingml/2006/main" prst="rect">
            <a:avLst/>
          </a:prstGeom>
          <a:solidFill xmlns:a="http://schemas.openxmlformats.org/drawingml/2006/main">
            <a:srgbClr val="FFFAF1"/>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Assistant explanations, PDF report export, comparison mode, and deployment-safe startup settings.</a:t>
            </a:r>
          </a:p>
        </p:txBody>
      </p:sp>
      <p:sp>
        <p:nvSpPr>
          <p:cNvPr id="23" name="">
            <a:extLst xmlns:a="http://schemas.openxmlformats.org/drawingml/2006/main">
              <a:ext uri="{FF2B5EF4-FFF2-40B4-BE49-F238E27FC236}">
                <a16:creationId xmlns:a16="http://schemas.microsoft.com/office/drawing/2014/main" id="{513B87C6-4351-4EB9-AC8E-F62A706D82ED}"/>
              </a:ext>
            </a:extLst>
          </p:cNvPr>
          <p:cNvSpPr>
            <a:spLocks xmlns:a="http://schemas.openxmlformats.org/drawingml/2006/main" noGrp="1"/>
          </p:cNvSpPr>
          <p:nvPr/>
        </p:nvSpPr>
        <p:spPr>
          <a:xfrm xmlns:a="http://schemas.openxmlformats.org/drawingml/2006/main">
            <a:off x="7239000" y="3943350"/>
            <a:ext cx="4095750" cy="1295400"/>
          </a:xfrm>
          <a:prstGeom xmlns:a="http://schemas.openxmlformats.org/drawingml/2006/main" prst="roundRect">
            <a:avLst>
              <a:gd name="adj" fmla="val 5882"/>
            </a:avLst>
          </a:prstGeom>
          <a:solidFill xmlns:a="http://schemas.openxmlformats.org/drawingml/2006/main">
            <a:srgbClr val="EFF4FB"/>
          </a:solidFill>
          <a:ln xmlns:a="http://schemas.openxmlformats.org/drawingml/2006/main" w="9525">
            <a:solidFill>
              <a:srgbClr val="D8E1EB"/>
            </a:solidFill>
          </a:ln>
        </p:spPr>
      </p:sp>
      <p:sp>
        <p:nvSpPr>
          <p:cNvPr id="24" name="">
            <a:extLst xmlns:a="http://schemas.openxmlformats.org/drawingml/2006/main">
              <a:ext uri="{FF2B5EF4-FFF2-40B4-BE49-F238E27FC236}">
                <a16:creationId xmlns:a16="http://schemas.microsoft.com/office/drawing/2014/main" id="{042A4B12-8F12-471F-8044-E251C15E51B6}"/>
              </a:ext>
            </a:extLst>
          </p:cNvPr>
          <p:cNvSpPr>
            <a:spLocks xmlns:a="http://schemas.openxmlformats.org/drawingml/2006/main" noGrp="1"/>
          </p:cNvSpPr>
          <p:nvPr/>
        </p:nvSpPr>
        <p:spPr>
          <a:xfrm xmlns:a="http://schemas.openxmlformats.org/drawingml/2006/main">
            <a:off x="7391400" y="4095750"/>
            <a:ext cx="114300" cy="990600"/>
          </a:xfrm>
          <a:prstGeom xmlns:a="http://schemas.openxmlformats.org/drawingml/2006/main" prst="roundRect">
            <a:avLst>
              <a:gd name="adj" fmla="val 50000"/>
            </a:avLst>
          </a:prstGeom>
          <a:solidFill xmlns:a="http://schemas.openxmlformats.org/drawingml/2006/main">
            <a:srgbClr val="11263F"/>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5376F18B-7E7F-49B4-9688-852299699193}"/>
              </a:ext>
            </a:extLst>
          </p:cNvPr>
          <p:cNvSpPr>
            <a:spLocks xmlns:a="http://schemas.openxmlformats.org/drawingml/2006/main" noGrp="1"/>
          </p:cNvSpPr>
          <p:nvPr/>
        </p:nvSpPr>
        <p:spPr>
          <a:xfrm xmlns:a="http://schemas.openxmlformats.org/drawingml/2006/main">
            <a:off x="7620000" y="4114800"/>
            <a:ext cx="3562350" cy="323850"/>
          </a:xfrm>
          <a:prstGeom xmlns:a="http://schemas.openxmlformats.org/drawingml/2006/main" prst="rect">
            <a:avLst/>
          </a:prstGeom>
          <a:solidFill xmlns:a="http://schemas.openxmlformats.org/drawingml/2006/main">
            <a:srgbClr val="EFF4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Ready for grading</a:t>
            </a:r>
          </a:p>
        </p:txBody>
      </p:sp>
      <p:sp>
        <p:nvSpPr>
          <p:cNvPr id="26" name="">
            <a:extLst xmlns:a="http://schemas.openxmlformats.org/drawingml/2006/main">
              <a:ext uri="{FF2B5EF4-FFF2-40B4-BE49-F238E27FC236}">
                <a16:creationId xmlns:a16="http://schemas.microsoft.com/office/drawing/2014/main" id="{F99DF181-EDB7-4A95-80CA-A9AA77E3B91A}"/>
              </a:ext>
            </a:extLst>
          </p:cNvPr>
          <p:cNvSpPr>
            <a:spLocks xmlns:a="http://schemas.openxmlformats.org/drawingml/2006/main" noGrp="1"/>
          </p:cNvSpPr>
          <p:nvPr/>
        </p:nvSpPr>
        <p:spPr>
          <a:xfrm xmlns:a="http://schemas.openxmlformats.org/drawingml/2006/main">
            <a:off x="7620000" y="4495800"/>
            <a:ext cx="3562350" cy="609600"/>
          </a:xfrm>
          <a:prstGeom xmlns:a="http://schemas.openxmlformats.org/drawingml/2006/main" prst="rect">
            <a:avLst/>
          </a:prstGeom>
          <a:solidFill xmlns:a="http://schemas.openxmlformats.org/drawingml/2006/main">
            <a:srgbClr val="EFF4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The repo ships with tests, documented entrypoints, and a reproducible evaluation workflow.</a:t>
            </a:r>
          </a:p>
        </p:txBody>
      </p:sp>
    </p:spTree>
    <p:extLst>
      <p:ext uri="{BB962C8B-B14F-4D97-AF65-F5344CB8AC3E}">
        <p14:creationId xmlns:p14="http://schemas.microsoft.com/office/powerpoint/2010/main" val="300985049"/>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1DC8211-31E6-422C-BAFD-AE1891C45EE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5A52E74D-CC6E-4A97-BF1B-02EC8A39B747}"/>
              </a:ext>
            </a:extLst>
          </p:cNvPr>
          <p:cNvSpPr>
            <a:spLocks xmlns:a="http://schemas.openxmlformats.org/drawingml/2006/main" noGrp="1"/>
          </p:cNvSpPr>
          <p:nvPr/>
        </p:nvSpPr>
        <p:spPr>
          <a:xfrm xmlns:a="http://schemas.openxmlformats.org/drawingml/2006/main">
            <a:off x="666750" y="381000"/>
            <a:ext cx="9334500" cy="81915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2550" b="1">
                <a:solidFill>
                  <a:srgbClr val="152235"/>
                </a:solidFill>
              </a:defRPr>
            </a:pPr>
            <a:r>
              <a:rPr sz="2550" b="1">
                <a:solidFill>
                  <a:srgbClr val="152235"/>
                </a:solidFill>
              </a:rPr>
              <a:t>What Milestone 2 adds</a:t>
            </a:r>
          </a:p>
        </p:txBody>
      </p:sp>
      <p:sp>
        <p:nvSpPr>
          <p:cNvPr id="3" name="">
            <a:extLst xmlns:a="http://schemas.openxmlformats.org/drawingml/2006/main">
              <a:ext uri="{FF2B5EF4-FFF2-40B4-BE49-F238E27FC236}">
                <a16:creationId xmlns:a16="http://schemas.microsoft.com/office/drawing/2014/main" id="{A308E373-860D-48B5-886E-2435A4736A5B}"/>
              </a:ext>
            </a:extLst>
          </p:cNvPr>
          <p:cNvSpPr>
            <a:spLocks xmlns:a="http://schemas.openxmlformats.org/drawingml/2006/main" noGrp="1"/>
          </p:cNvSpPr>
          <p:nvPr/>
        </p:nvSpPr>
        <p:spPr>
          <a:xfrm xmlns:a="http://schemas.openxmlformats.org/drawingml/2006/main">
            <a:off x="666750" y="1066800"/>
            <a:ext cx="9334500" cy="40005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The baseline classifier stays the same, but the product surface becomes demonstrably richer and easier to deploy.</a:t>
            </a:r>
          </a:p>
        </p:txBody>
      </p:sp>
      <p:sp>
        <p:nvSpPr>
          <p:cNvPr id="4" name="">
            <a:extLst xmlns:a="http://schemas.openxmlformats.org/drawingml/2006/main">
              <a:ext uri="{FF2B5EF4-FFF2-40B4-BE49-F238E27FC236}">
                <a16:creationId xmlns:a16="http://schemas.microsoft.com/office/drawing/2014/main" id="{4180C5FB-9578-4EC2-9C36-AEBE5D2EA890}"/>
              </a:ext>
            </a:extLst>
          </p:cNvPr>
          <p:cNvSpPr>
            <a:spLocks xmlns:a="http://schemas.openxmlformats.org/drawingml/2006/main" noGrp="1"/>
          </p:cNvSpPr>
          <p:nvPr/>
        </p:nvSpPr>
        <p:spPr>
          <a:xfrm xmlns:a="http://schemas.openxmlformats.org/drawingml/2006/main">
            <a:off x="10858500" y="6381750"/>
            <a:ext cx="857250" cy="22860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r">
              <a:defRPr sz="975" b="1">
                <a:solidFill>
                  <a:srgbClr val="5F6D7F"/>
                </a:solidFill>
              </a:defRPr>
            </a:pPr>
            <a:r>
              <a:rPr sz="975" b="1">
                <a:solidFill>
                  <a:srgbClr val="5F6D7F"/>
                </a:solidFill>
              </a:rPr>
              <a:t>02</a:t>
            </a:r>
          </a:p>
        </p:txBody>
      </p:sp>
      <p:sp>
        <p:nvSpPr>
          <p:cNvPr id="5" name="">
            <a:extLst xmlns:a="http://schemas.openxmlformats.org/drawingml/2006/main">
              <a:ext uri="{FF2B5EF4-FFF2-40B4-BE49-F238E27FC236}">
                <a16:creationId xmlns:a16="http://schemas.microsoft.com/office/drawing/2014/main" id="{EFE85556-4884-4F94-B86D-AF37218EE51C}"/>
              </a:ext>
            </a:extLst>
          </p:cNvPr>
          <p:cNvSpPr>
            <a:spLocks xmlns:a="http://schemas.openxmlformats.org/drawingml/2006/main" noGrp="1"/>
          </p:cNvSpPr>
          <p:nvPr/>
        </p:nvSpPr>
        <p:spPr>
          <a:xfrm xmlns:a="http://schemas.openxmlformats.org/drawingml/2006/main">
            <a:off x="666750" y="1714500"/>
            <a:ext cx="5143500" cy="3524250"/>
          </a:xfrm>
          <a:prstGeom xmlns:a="http://schemas.openxmlformats.org/drawingml/2006/main" prst="roundRect">
            <a:avLst>
              <a:gd name="adj" fmla="val 2162"/>
            </a:avLst>
          </a:prstGeom>
          <a:solidFill xmlns:a="http://schemas.openxmlformats.org/drawingml/2006/main">
            <a:srgbClr val="FFFFFF"/>
          </a:solidFill>
          <a:ln xmlns:a="http://schemas.openxmlformats.org/drawingml/2006/main" w="9525">
            <a:solidFill>
              <a:srgbClr val="D8E1EB"/>
            </a:solidFill>
          </a:ln>
        </p:spPr>
      </p:sp>
      <p:sp>
        <p:nvSpPr>
          <p:cNvPr id="6" name="">
            <a:extLst xmlns:a="http://schemas.openxmlformats.org/drawingml/2006/main">
              <a:ext uri="{FF2B5EF4-FFF2-40B4-BE49-F238E27FC236}">
                <a16:creationId xmlns:a16="http://schemas.microsoft.com/office/drawing/2014/main" id="{0109AC38-6AE6-42E0-8AE9-1F0E9315537E}"/>
              </a:ext>
            </a:extLst>
          </p:cNvPr>
          <p:cNvSpPr>
            <a:spLocks xmlns:a="http://schemas.openxmlformats.org/drawingml/2006/main" noGrp="1"/>
          </p:cNvSpPr>
          <p:nvPr/>
        </p:nvSpPr>
        <p:spPr>
          <a:xfrm xmlns:a="http://schemas.openxmlformats.org/drawingml/2006/main">
            <a:off x="819150" y="1866900"/>
            <a:ext cx="114300" cy="3219450"/>
          </a:xfrm>
          <a:prstGeom xmlns:a="http://schemas.openxmlformats.org/drawingml/2006/main" prst="roundRect">
            <a:avLst>
              <a:gd name="adj" fmla="val 50000"/>
            </a:avLst>
          </a:prstGeom>
          <a:solidFill xmlns:a="http://schemas.openxmlformats.org/drawingml/2006/main">
            <a:srgbClr val="2DB7A3"/>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3F72CA62-BA89-4323-B8FA-23275F628850}"/>
              </a:ext>
            </a:extLst>
          </p:cNvPr>
          <p:cNvSpPr>
            <a:spLocks xmlns:a="http://schemas.openxmlformats.org/drawingml/2006/main" noGrp="1"/>
          </p:cNvSpPr>
          <p:nvPr/>
        </p:nvSpPr>
        <p:spPr>
          <a:xfrm xmlns:a="http://schemas.openxmlformats.org/drawingml/2006/main">
            <a:off x="1047750" y="1885950"/>
            <a:ext cx="461010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Baseline preserved</a:t>
            </a:r>
          </a:p>
        </p:txBody>
      </p:sp>
      <p:sp>
        <p:nvSpPr>
          <p:cNvPr id="8" name="">
            <a:extLst xmlns:a="http://schemas.openxmlformats.org/drawingml/2006/main">
              <a:ext uri="{FF2B5EF4-FFF2-40B4-BE49-F238E27FC236}">
                <a16:creationId xmlns:a16="http://schemas.microsoft.com/office/drawing/2014/main" id="{0D21EE48-66D6-4725-81FC-9862D3AC0D01}"/>
              </a:ext>
            </a:extLst>
          </p:cNvPr>
          <p:cNvSpPr>
            <a:spLocks xmlns:a="http://schemas.openxmlformats.org/drawingml/2006/main" noGrp="1"/>
          </p:cNvSpPr>
          <p:nvPr/>
        </p:nvSpPr>
        <p:spPr>
          <a:xfrm xmlns:a="http://schemas.openxmlformats.org/drawingml/2006/main">
            <a:off x="1047750" y="2266950"/>
            <a:ext cx="4610100" cy="28384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Milestone 2 keeps the clause segmentation, TF-IDF vectorization, logistic regression classifier, severity mapping, and clause highlighting from Milestone 1.</a:t>
            </a:r>
          </a:p>
        </p:txBody>
      </p:sp>
      <p:sp>
        <p:nvSpPr>
          <p:cNvPr id="9" name="">
            <a:extLst xmlns:a="http://schemas.openxmlformats.org/drawingml/2006/main">
              <a:ext uri="{FF2B5EF4-FFF2-40B4-BE49-F238E27FC236}">
                <a16:creationId xmlns:a16="http://schemas.microsoft.com/office/drawing/2014/main" id="{906E37F1-0F1D-4FAC-AF00-E3063316F719}"/>
              </a:ext>
            </a:extLst>
          </p:cNvPr>
          <p:cNvSpPr>
            <a:spLocks xmlns:a="http://schemas.openxmlformats.org/drawingml/2006/main" noGrp="1"/>
          </p:cNvSpPr>
          <p:nvPr/>
        </p:nvSpPr>
        <p:spPr>
          <a:xfrm xmlns:a="http://schemas.openxmlformats.org/drawingml/2006/main">
            <a:off x="1047750" y="2619375"/>
            <a:ext cx="4381500" cy="1143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350" b="0">
                <a:solidFill>
                  <a:srgbClr val="152235"/>
                </a:solidFill>
              </a:defRPr>
            </a:pPr>
            <a:r>
              <a:rPr sz="1350" b="0">
                <a:solidFill>
                  <a:srgbClr val="152235"/>
                </a:solidFill>
              </a:rPr>
              <a:t>• Predict clause type per extracted clause</a:t>
            </a:r>
          </a:p>
          <a:p xmlns:a="http://schemas.openxmlformats.org/drawingml/2006/main">
            <a:pPr algn="l">
              <a:defRPr sz="1350" b="0">
                <a:solidFill>
                  <a:srgbClr val="152235"/>
                </a:solidFill>
              </a:defRPr>
            </a:pPr>
            <a:r>
              <a:rPr sz="1350" b="0">
                <a:solidFill>
                  <a:srgbClr val="152235"/>
                </a:solidFill>
              </a:rPr>
              <a:t>• Map clause type to severity and risk score</a:t>
            </a:r>
          </a:p>
          <a:p xmlns:a="http://schemas.openxmlformats.org/drawingml/2006/main">
            <a:pPr algn="l">
              <a:defRPr sz="1350" b="0">
                <a:solidFill>
                  <a:srgbClr val="152235"/>
                </a:solidFill>
              </a:defRPr>
            </a:pPr>
            <a:r>
              <a:rPr sz="1350" b="0">
                <a:solidFill>
                  <a:srgbClr val="152235"/>
                </a:solidFill>
              </a:rPr>
              <a:t>• Export structured outputs for grading</a:t>
            </a:r>
          </a:p>
          <a:p xmlns:a="http://schemas.openxmlformats.org/drawingml/2006/main">
            <a:pPr algn="l">
              <a:defRPr sz="1350" b="0">
                <a:solidFill>
                  <a:srgbClr val="152235"/>
                </a:solidFill>
              </a:defRPr>
            </a:pPr>
            <a:r>
              <a:rPr sz="1350" b="0">
                <a:solidFill>
                  <a:srgbClr val="152235"/>
                </a:solidFill>
              </a:rPr>
              <a:t>• Keep the deterministic screenable baseline</a:t>
            </a:r>
          </a:p>
        </p:txBody>
      </p:sp>
      <p:sp>
        <p:nvSpPr>
          <p:cNvPr id="10" name="">
            <a:extLst xmlns:a="http://schemas.openxmlformats.org/drawingml/2006/main">
              <a:ext uri="{FF2B5EF4-FFF2-40B4-BE49-F238E27FC236}">
                <a16:creationId xmlns:a16="http://schemas.microsoft.com/office/drawing/2014/main" id="{1FBD074C-ED22-4372-B036-FFD96C81073D}"/>
              </a:ext>
            </a:extLst>
          </p:cNvPr>
          <p:cNvSpPr>
            <a:spLocks xmlns:a="http://schemas.openxmlformats.org/drawingml/2006/main" noGrp="1"/>
          </p:cNvSpPr>
          <p:nvPr/>
        </p:nvSpPr>
        <p:spPr>
          <a:xfrm xmlns:a="http://schemas.openxmlformats.org/drawingml/2006/main">
            <a:off x="6381750" y="1714500"/>
            <a:ext cx="5143500" cy="3524250"/>
          </a:xfrm>
          <a:prstGeom xmlns:a="http://schemas.openxmlformats.org/drawingml/2006/main" prst="roundRect">
            <a:avLst>
              <a:gd name="adj" fmla="val 2162"/>
            </a:avLst>
          </a:prstGeom>
          <a:solidFill xmlns:a="http://schemas.openxmlformats.org/drawingml/2006/main">
            <a:srgbClr val="FFFFFF"/>
          </a:solidFill>
          <a:ln xmlns:a="http://schemas.openxmlformats.org/drawingml/2006/main" w="9525">
            <a:solidFill>
              <a:srgbClr val="D8E1EB"/>
            </a:solidFill>
          </a:ln>
        </p:spPr>
      </p:sp>
      <p:sp>
        <p:nvSpPr>
          <p:cNvPr id="11" name="">
            <a:extLst xmlns:a="http://schemas.openxmlformats.org/drawingml/2006/main">
              <a:ext uri="{FF2B5EF4-FFF2-40B4-BE49-F238E27FC236}">
                <a16:creationId xmlns:a16="http://schemas.microsoft.com/office/drawing/2014/main" id="{A0621B4F-6734-4BD5-866A-A75AD35FB162}"/>
              </a:ext>
            </a:extLst>
          </p:cNvPr>
          <p:cNvSpPr>
            <a:spLocks xmlns:a="http://schemas.openxmlformats.org/drawingml/2006/main" noGrp="1"/>
          </p:cNvSpPr>
          <p:nvPr/>
        </p:nvSpPr>
        <p:spPr>
          <a:xfrm xmlns:a="http://schemas.openxmlformats.org/drawingml/2006/main">
            <a:off x="6534150" y="1866900"/>
            <a:ext cx="114300" cy="3219450"/>
          </a:xfrm>
          <a:prstGeom xmlns:a="http://schemas.openxmlformats.org/drawingml/2006/main" prst="roundRect">
            <a:avLst>
              <a:gd name="adj" fmla="val 50000"/>
            </a:avLst>
          </a:prstGeom>
          <a:solidFill xmlns:a="http://schemas.openxmlformats.org/drawingml/2006/main">
            <a:srgbClr val="F0B35D"/>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6044437B-DAEE-4034-8470-3101EBEB323B}"/>
              </a:ext>
            </a:extLst>
          </p:cNvPr>
          <p:cNvSpPr>
            <a:spLocks xmlns:a="http://schemas.openxmlformats.org/drawingml/2006/main" noGrp="1"/>
          </p:cNvSpPr>
          <p:nvPr/>
        </p:nvSpPr>
        <p:spPr>
          <a:xfrm xmlns:a="http://schemas.openxmlformats.org/drawingml/2006/main">
            <a:off x="6762750" y="1885950"/>
            <a:ext cx="461010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Milestone 2 additions</a:t>
            </a:r>
          </a:p>
        </p:txBody>
      </p:sp>
      <p:sp>
        <p:nvSpPr>
          <p:cNvPr id="13" name="">
            <a:extLst xmlns:a="http://schemas.openxmlformats.org/drawingml/2006/main">
              <a:ext uri="{FF2B5EF4-FFF2-40B4-BE49-F238E27FC236}">
                <a16:creationId xmlns:a16="http://schemas.microsoft.com/office/drawing/2014/main" id="{C2FB5A62-2989-4ADE-9FEC-8CD050542492}"/>
              </a:ext>
            </a:extLst>
          </p:cNvPr>
          <p:cNvSpPr>
            <a:spLocks xmlns:a="http://schemas.openxmlformats.org/drawingml/2006/main" noGrp="1"/>
          </p:cNvSpPr>
          <p:nvPr/>
        </p:nvSpPr>
        <p:spPr>
          <a:xfrm xmlns:a="http://schemas.openxmlformats.org/drawingml/2006/main">
            <a:off x="6762750" y="2266950"/>
            <a:ext cx="4610100" cy="28384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The assistant layer uses the bundled legal guidance corpus to ground explanations, mitigation advice, and report generation without external API dependencies.</a:t>
            </a:r>
          </a:p>
        </p:txBody>
      </p:sp>
      <p:sp>
        <p:nvSpPr>
          <p:cNvPr id="14" name="">
            <a:extLst xmlns:a="http://schemas.openxmlformats.org/drawingml/2006/main">
              <a:ext uri="{FF2B5EF4-FFF2-40B4-BE49-F238E27FC236}">
                <a16:creationId xmlns:a16="http://schemas.microsoft.com/office/drawing/2014/main" id="{99BE725D-D58B-4237-A967-ABAE9FE0808B}"/>
              </a:ext>
            </a:extLst>
          </p:cNvPr>
          <p:cNvSpPr>
            <a:spLocks xmlns:a="http://schemas.openxmlformats.org/drawingml/2006/main" noGrp="1"/>
          </p:cNvSpPr>
          <p:nvPr/>
        </p:nvSpPr>
        <p:spPr>
          <a:xfrm xmlns:a="http://schemas.openxmlformats.org/drawingml/2006/main">
            <a:off x="6762750" y="2619375"/>
            <a:ext cx="4476750" cy="1143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350" b="0">
                <a:solidFill>
                  <a:srgbClr val="152235"/>
                </a:solidFill>
              </a:defRPr>
            </a:pPr>
            <a:r>
              <a:rPr sz="1350" b="0">
                <a:solidFill>
                  <a:srgbClr val="152235"/>
                </a:solidFill>
              </a:rPr>
              <a:t>• Generate a structured legal assistance report</a:t>
            </a:r>
          </a:p>
          <a:p xmlns:a="http://schemas.openxmlformats.org/drawingml/2006/main">
            <a:pPr algn="l">
              <a:defRPr sz="1350" b="0">
                <a:solidFill>
                  <a:srgbClr val="152235"/>
                </a:solidFill>
              </a:defRPr>
            </a:pPr>
            <a:r>
              <a:rPr sz="1350" b="0">
                <a:solidFill>
                  <a:srgbClr val="152235"/>
                </a:solidFill>
              </a:rPr>
              <a:t>• Show supporting evidence and mitigation guidance</a:t>
            </a:r>
          </a:p>
          <a:p xmlns:a="http://schemas.openxmlformats.org/drawingml/2006/main">
            <a:pPr algn="l">
              <a:defRPr sz="1350" b="0">
                <a:solidFill>
                  <a:srgbClr val="152235"/>
                </a:solidFill>
              </a:defRPr>
            </a:pPr>
            <a:r>
              <a:rPr sz="1350" b="0">
                <a:solidFill>
                  <a:srgbClr val="152235"/>
                </a:solidFill>
              </a:rPr>
              <a:t>• Support multi-contract comparison</a:t>
            </a:r>
          </a:p>
          <a:p xmlns:a="http://schemas.openxmlformats.org/drawingml/2006/main">
            <a:pPr algn="l">
              <a:defRPr sz="1350" b="0">
                <a:solidFill>
                  <a:srgbClr val="152235"/>
                </a:solidFill>
              </a:defRPr>
            </a:pPr>
            <a:r>
              <a:rPr sz="1350" b="0">
                <a:solidFill>
                  <a:srgbClr val="152235"/>
                </a:solidFill>
              </a:rPr>
              <a:t>• Produce deployment-ready startup docs</a:t>
            </a:r>
          </a:p>
        </p:txBody>
      </p:sp>
      <p:sp>
        <p:nvSpPr>
          <p:cNvPr id="15" name="">
            <a:extLst xmlns:a="http://schemas.openxmlformats.org/drawingml/2006/main">
              <a:ext uri="{FF2B5EF4-FFF2-40B4-BE49-F238E27FC236}">
                <a16:creationId xmlns:a16="http://schemas.microsoft.com/office/drawing/2014/main" id="{733FF970-0946-49AC-9B35-9E38D62FCEAB}"/>
              </a:ext>
            </a:extLst>
          </p:cNvPr>
          <p:cNvSpPr>
            <a:spLocks xmlns:a="http://schemas.openxmlformats.org/drawingml/2006/main" noGrp="1"/>
          </p:cNvSpPr>
          <p:nvPr/>
        </p:nvSpPr>
        <p:spPr>
          <a:xfrm xmlns:a="http://schemas.openxmlformats.org/drawingml/2006/main">
            <a:off x="666750" y="5524500"/>
            <a:ext cx="2381250" cy="1047750"/>
          </a:xfrm>
          <a:prstGeom xmlns:a="http://schemas.openxmlformats.org/drawingml/2006/main" prst="roundRect">
            <a:avLst>
              <a:gd name="adj" fmla="val 7273"/>
            </a:avLst>
          </a:prstGeom>
          <a:solidFill xmlns:a="http://schemas.openxmlformats.org/drawingml/2006/main">
            <a:srgbClr val="D9F5EF"/>
          </a:solidFill>
          <a:ln xmlns:a="http://schemas.openxmlformats.org/drawingml/2006/main" w="9525">
            <a:noFill/>
          </a:ln>
        </p:spPr>
      </p:sp>
      <p:sp>
        <p:nvSpPr>
          <p:cNvPr id="16" name="">
            <a:extLst xmlns:a="http://schemas.openxmlformats.org/drawingml/2006/main">
              <a:ext uri="{FF2B5EF4-FFF2-40B4-BE49-F238E27FC236}">
                <a16:creationId xmlns:a16="http://schemas.microsoft.com/office/drawing/2014/main" id="{17A8E24F-571D-4A4E-A989-A9EA7DA7B773}"/>
              </a:ext>
            </a:extLst>
          </p:cNvPr>
          <p:cNvSpPr>
            <a:spLocks xmlns:a="http://schemas.openxmlformats.org/drawingml/2006/main" noGrp="1"/>
          </p:cNvSpPr>
          <p:nvPr/>
        </p:nvSpPr>
        <p:spPr>
          <a:xfrm xmlns:a="http://schemas.openxmlformats.org/drawingml/2006/main">
            <a:off x="857250" y="5676900"/>
            <a:ext cx="2000250" cy="533400"/>
          </a:xfrm>
          <a:prstGeom xmlns:a="http://schemas.openxmlformats.org/drawingml/2006/main" prst="rect">
            <a:avLst/>
          </a:prstGeom>
          <a:solidFill xmlns:a="http://schemas.openxmlformats.org/drawingml/2006/main">
            <a:srgbClr val="D9F5E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2550" b="1">
                <a:solidFill>
                  <a:srgbClr val="152235"/>
                </a:solidFill>
              </a:defRPr>
            </a:pPr>
            <a:r>
              <a:rPr sz="2550" b="1">
                <a:solidFill>
                  <a:srgbClr val="152235"/>
                </a:solidFill>
              </a:rPr>
              <a:t>2</a:t>
            </a:r>
          </a:p>
        </p:txBody>
      </p:sp>
      <p:sp>
        <p:nvSpPr>
          <p:cNvPr id="17" name="">
            <a:extLst xmlns:a="http://schemas.openxmlformats.org/drawingml/2006/main">
              <a:ext uri="{FF2B5EF4-FFF2-40B4-BE49-F238E27FC236}">
                <a16:creationId xmlns:a16="http://schemas.microsoft.com/office/drawing/2014/main" id="{B1EE059E-A1C2-487D-B8D8-83E381B3A0BD}"/>
              </a:ext>
            </a:extLst>
          </p:cNvPr>
          <p:cNvSpPr>
            <a:spLocks xmlns:a="http://schemas.openxmlformats.org/drawingml/2006/main" noGrp="1"/>
          </p:cNvSpPr>
          <p:nvPr/>
        </p:nvSpPr>
        <p:spPr>
          <a:xfrm xmlns:a="http://schemas.openxmlformats.org/drawingml/2006/main">
            <a:off x="819150" y="6229350"/>
            <a:ext cx="2076450" cy="457200"/>
          </a:xfrm>
          <a:prstGeom xmlns:a="http://schemas.openxmlformats.org/drawingml/2006/main" prst="rect">
            <a:avLst/>
          </a:prstGeom>
          <a:solidFill xmlns:a="http://schemas.openxmlformats.org/drawingml/2006/main">
            <a:srgbClr val="D9F5E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200" b="1">
                <a:solidFill>
                  <a:srgbClr val="5F6D7F"/>
                </a:solidFill>
              </a:defRPr>
            </a:pPr>
            <a:r>
              <a:rPr sz="1200" b="1">
                <a:solidFill>
                  <a:srgbClr val="5F6D7F"/>
                </a:solidFill>
              </a:rPr>
              <a:t>analysis layers: baseline + assistant</a:t>
            </a:r>
          </a:p>
        </p:txBody>
      </p:sp>
      <p:sp>
        <p:nvSpPr>
          <p:cNvPr id="18" name="">
            <a:extLst xmlns:a="http://schemas.openxmlformats.org/drawingml/2006/main">
              <a:ext uri="{FF2B5EF4-FFF2-40B4-BE49-F238E27FC236}">
                <a16:creationId xmlns:a16="http://schemas.microsoft.com/office/drawing/2014/main" id="{7451ED34-69F3-49CC-B9D0-214A0AE28298}"/>
              </a:ext>
            </a:extLst>
          </p:cNvPr>
          <p:cNvSpPr>
            <a:spLocks xmlns:a="http://schemas.openxmlformats.org/drawingml/2006/main" noGrp="1"/>
          </p:cNvSpPr>
          <p:nvPr/>
        </p:nvSpPr>
        <p:spPr>
          <a:xfrm xmlns:a="http://schemas.openxmlformats.org/drawingml/2006/main">
            <a:off x="3200400" y="5524500"/>
            <a:ext cx="2381250" cy="1047750"/>
          </a:xfrm>
          <a:prstGeom xmlns:a="http://schemas.openxmlformats.org/drawingml/2006/main" prst="roundRect">
            <a:avLst>
              <a:gd name="adj" fmla="val 7273"/>
            </a:avLst>
          </a:prstGeom>
          <a:solidFill xmlns:a="http://schemas.openxmlformats.org/drawingml/2006/main">
            <a:srgbClr val="FFF2DD"/>
          </a:solidFill>
          <a:ln xmlns:a="http://schemas.openxmlformats.org/drawingml/2006/main" w="9525">
            <a:noFill/>
          </a:ln>
        </p:spPr>
      </p:sp>
      <p:sp>
        <p:nvSpPr>
          <p:cNvPr id="19" name="">
            <a:extLst xmlns:a="http://schemas.openxmlformats.org/drawingml/2006/main">
              <a:ext uri="{FF2B5EF4-FFF2-40B4-BE49-F238E27FC236}">
                <a16:creationId xmlns:a16="http://schemas.microsoft.com/office/drawing/2014/main" id="{FB57F272-6801-4FD4-9AED-F7D1D09D0A12}"/>
              </a:ext>
            </a:extLst>
          </p:cNvPr>
          <p:cNvSpPr>
            <a:spLocks xmlns:a="http://schemas.openxmlformats.org/drawingml/2006/main" noGrp="1"/>
          </p:cNvSpPr>
          <p:nvPr/>
        </p:nvSpPr>
        <p:spPr>
          <a:xfrm xmlns:a="http://schemas.openxmlformats.org/drawingml/2006/main">
            <a:off x="3390900" y="5676900"/>
            <a:ext cx="2000250" cy="533400"/>
          </a:xfrm>
          <a:prstGeom xmlns:a="http://schemas.openxmlformats.org/drawingml/2006/main" prst="rect">
            <a:avLst/>
          </a:prstGeom>
          <a:solidFill xmlns:a="http://schemas.openxmlformats.org/drawingml/2006/main">
            <a:srgbClr val="FFF2DD"/>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2550" b="1">
                <a:solidFill>
                  <a:srgbClr val="152235"/>
                </a:solidFill>
              </a:defRPr>
            </a:pPr>
            <a:r>
              <a:rPr sz="2550" b="1">
                <a:solidFill>
                  <a:srgbClr val="152235"/>
                </a:solidFill>
              </a:rPr>
              <a:t>3</a:t>
            </a:r>
          </a:p>
        </p:txBody>
      </p:sp>
      <p:sp>
        <p:nvSpPr>
          <p:cNvPr id="20" name="">
            <a:extLst xmlns:a="http://schemas.openxmlformats.org/drawingml/2006/main">
              <a:ext uri="{FF2B5EF4-FFF2-40B4-BE49-F238E27FC236}">
                <a16:creationId xmlns:a16="http://schemas.microsoft.com/office/drawing/2014/main" id="{978C7E17-AF4C-4745-922D-1554E7F4F4B8}"/>
              </a:ext>
            </a:extLst>
          </p:cNvPr>
          <p:cNvSpPr>
            <a:spLocks xmlns:a="http://schemas.openxmlformats.org/drawingml/2006/main" noGrp="1"/>
          </p:cNvSpPr>
          <p:nvPr/>
        </p:nvSpPr>
        <p:spPr>
          <a:xfrm xmlns:a="http://schemas.openxmlformats.org/drawingml/2006/main">
            <a:off x="3352800" y="6229350"/>
            <a:ext cx="2076450" cy="457200"/>
          </a:xfrm>
          <a:prstGeom xmlns:a="http://schemas.openxmlformats.org/drawingml/2006/main" prst="rect">
            <a:avLst/>
          </a:prstGeom>
          <a:solidFill xmlns:a="http://schemas.openxmlformats.org/drawingml/2006/main">
            <a:srgbClr val="FFF2DD"/>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200" b="1">
                <a:solidFill>
                  <a:srgbClr val="5F6D7F"/>
                </a:solidFill>
              </a:defRPr>
            </a:pPr>
            <a:r>
              <a:rPr sz="1200" b="1">
                <a:solidFill>
                  <a:srgbClr val="5F6D7F"/>
                </a:solidFill>
              </a:rPr>
              <a:t>host paths: Streamlit, HF Spaces, Render</a:t>
            </a:r>
          </a:p>
        </p:txBody>
      </p:sp>
      <p:sp>
        <p:nvSpPr>
          <p:cNvPr id="21" name="">
            <a:extLst xmlns:a="http://schemas.openxmlformats.org/drawingml/2006/main">
              <a:ext uri="{FF2B5EF4-FFF2-40B4-BE49-F238E27FC236}">
                <a16:creationId xmlns:a16="http://schemas.microsoft.com/office/drawing/2014/main" id="{C29F220A-3164-46AF-89FF-883DD6EF4449}"/>
              </a:ext>
            </a:extLst>
          </p:cNvPr>
          <p:cNvSpPr>
            <a:spLocks xmlns:a="http://schemas.openxmlformats.org/drawingml/2006/main" noGrp="1"/>
          </p:cNvSpPr>
          <p:nvPr/>
        </p:nvSpPr>
        <p:spPr>
          <a:xfrm xmlns:a="http://schemas.openxmlformats.org/drawingml/2006/main">
            <a:off x="5734050" y="5524500"/>
            <a:ext cx="2381250" cy="1047750"/>
          </a:xfrm>
          <a:prstGeom xmlns:a="http://schemas.openxmlformats.org/drawingml/2006/main" prst="roundRect">
            <a:avLst>
              <a:gd name="adj" fmla="val 7273"/>
            </a:avLst>
          </a:prstGeom>
          <a:solidFill xmlns:a="http://schemas.openxmlformats.org/drawingml/2006/main">
            <a:srgbClr val="E8EFFB"/>
          </a:solidFill>
          <a:ln xmlns:a="http://schemas.openxmlformats.org/drawingml/2006/main" w="9525">
            <a:noFill/>
          </a:ln>
        </p:spPr>
      </p:sp>
      <p:sp>
        <p:nvSpPr>
          <p:cNvPr id="22" name="">
            <a:extLst xmlns:a="http://schemas.openxmlformats.org/drawingml/2006/main">
              <a:ext uri="{FF2B5EF4-FFF2-40B4-BE49-F238E27FC236}">
                <a16:creationId xmlns:a16="http://schemas.microsoft.com/office/drawing/2014/main" id="{5A945F27-2A08-4A14-A648-AEE5530B7AFE}"/>
              </a:ext>
            </a:extLst>
          </p:cNvPr>
          <p:cNvSpPr>
            <a:spLocks xmlns:a="http://schemas.openxmlformats.org/drawingml/2006/main" noGrp="1"/>
          </p:cNvSpPr>
          <p:nvPr/>
        </p:nvSpPr>
        <p:spPr>
          <a:xfrm xmlns:a="http://schemas.openxmlformats.org/drawingml/2006/main">
            <a:off x="5924550" y="5676900"/>
            <a:ext cx="2000250" cy="533400"/>
          </a:xfrm>
          <a:prstGeom xmlns:a="http://schemas.openxmlformats.org/drawingml/2006/main" prst="rect">
            <a:avLst/>
          </a:prstGeom>
          <a:solidFill xmlns:a="http://schemas.openxmlformats.org/drawingml/2006/main">
            <a:srgbClr val="E8EF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2550" b="1">
                <a:solidFill>
                  <a:srgbClr val="152235"/>
                </a:solidFill>
              </a:defRPr>
            </a:pPr>
            <a:r>
              <a:rPr sz="2550" b="1">
                <a:solidFill>
                  <a:srgbClr val="152235"/>
                </a:solidFill>
              </a:rPr>
              <a:t>4</a:t>
            </a:r>
          </a:p>
        </p:txBody>
      </p:sp>
      <p:sp>
        <p:nvSpPr>
          <p:cNvPr id="23" name="">
            <a:extLst xmlns:a="http://schemas.openxmlformats.org/drawingml/2006/main">
              <a:ext uri="{FF2B5EF4-FFF2-40B4-BE49-F238E27FC236}">
                <a16:creationId xmlns:a16="http://schemas.microsoft.com/office/drawing/2014/main" id="{D34C5B86-BB50-4E99-ABFE-10963E2A081B}"/>
              </a:ext>
            </a:extLst>
          </p:cNvPr>
          <p:cNvSpPr>
            <a:spLocks xmlns:a="http://schemas.openxmlformats.org/drawingml/2006/main" noGrp="1"/>
          </p:cNvSpPr>
          <p:nvPr/>
        </p:nvSpPr>
        <p:spPr>
          <a:xfrm xmlns:a="http://schemas.openxmlformats.org/drawingml/2006/main">
            <a:off x="5886450" y="6229350"/>
            <a:ext cx="2076450" cy="457200"/>
          </a:xfrm>
          <a:prstGeom xmlns:a="http://schemas.openxmlformats.org/drawingml/2006/main" prst="rect">
            <a:avLst/>
          </a:prstGeom>
          <a:solidFill xmlns:a="http://schemas.openxmlformats.org/drawingml/2006/main">
            <a:srgbClr val="E8EF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200" b="1">
                <a:solidFill>
                  <a:srgbClr val="5F6D7F"/>
                </a:solidFill>
              </a:defRPr>
            </a:pPr>
            <a:r>
              <a:rPr sz="1200" b="1">
                <a:solidFill>
                  <a:srgbClr val="5F6D7F"/>
                </a:solidFill>
              </a:rPr>
              <a:t>export formats: CSV, JSON, PDF, comparison</a:t>
            </a:r>
          </a:p>
        </p:txBody>
      </p:sp>
      <p:sp>
        <p:nvSpPr>
          <p:cNvPr id="24" name="">
            <a:extLst xmlns:a="http://schemas.openxmlformats.org/drawingml/2006/main">
              <a:ext uri="{FF2B5EF4-FFF2-40B4-BE49-F238E27FC236}">
                <a16:creationId xmlns:a16="http://schemas.microsoft.com/office/drawing/2014/main" id="{ABC5B37D-7B6F-4DE3-9AB9-4CD2B9FFFFC2}"/>
              </a:ext>
            </a:extLst>
          </p:cNvPr>
          <p:cNvSpPr>
            <a:spLocks xmlns:a="http://schemas.openxmlformats.org/drawingml/2006/main" noGrp="1"/>
          </p:cNvSpPr>
          <p:nvPr/>
        </p:nvSpPr>
        <p:spPr>
          <a:xfrm xmlns:a="http://schemas.openxmlformats.org/drawingml/2006/main">
            <a:off x="8267700" y="5524500"/>
            <a:ext cx="3257550" cy="1047750"/>
          </a:xfrm>
          <a:prstGeom xmlns:a="http://schemas.openxmlformats.org/drawingml/2006/main" prst="roundRect">
            <a:avLst>
              <a:gd name="adj" fmla="val 7273"/>
            </a:avLst>
          </a:prstGeom>
          <a:solidFill xmlns:a="http://schemas.openxmlformats.org/drawingml/2006/main">
            <a:srgbClr val="EDF7EE"/>
          </a:solidFill>
          <a:ln xmlns:a="http://schemas.openxmlformats.org/drawingml/2006/main" w="9525">
            <a:noFill/>
          </a:ln>
        </p:spPr>
      </p:sp>
      <p:sp>
        <p:nvSpPr>
          <p:cNvPr id="25" name="">
            <a:extLst xmlns:a="http://schemas.openxmlformats.org/drawingml/2006/main">
              <a:ext uri="{FF2B5EF4-FFF2-40B4-BE49-F238E27FC236}">
                <a16:creationId xmlns:a16="http://schemas.microsoft.com/office/drawing/2014/main" id="{5F070A61-19FC-483A-A097-41CFA7737AF8}"/>
              </a:ext>
            </a:extLst>
          </p:cNvPr>
          <p:cNvSpPr>
            <a:spLocks xmlns:a="http://schemas.openxmlformats.org/drawingml/2006/main" noGrp="1"/>
          </p:cNvSpPr>
          <p:nvPr/>
        </p:nvSpPr>
        <p:spPr>
          <a:xfrm xmlns:a="http://schemas.openxmlformats.org/drawingml/2006/main">
            <a:off x="8458200" y="5676900"/>
            <a:ext cx="2876550" cy="533400"/>
          </a:xfrm>
          <a:prstGeom xmlns:a="http://schemas.openxmlformats.org/drawingml/2006/main" prst="rect">
            <a:avLst/>
          </a:prstGeom>
          <a:solidFill xmlns:a="http://schemas.openxmlformats.org/drawingml/2006/main">
            <a:srgbClr val="EDF7EE"/>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2550" b="1">
                <a:solidFill>
                  <a:srgbClr val="152235"/>
                </a:solidFill>
              </a:defRPr>
            </a:pPr>
            <a:r>
              <a:rPr sz="2550" b="1">
                <a:solidFill>
                  <a:srgbClr val="152235"/>
                </a:solidFill>
              </a:rPr>
              <a:t>100%</a:t>
            </a:r>
          </a:p>
        </p:txBody>
      </p:sp>
      <p:sp>
        <p:nvSpPr>
          <p:cNvPr id="26" name="">
            <a:extLst xmlns:a="http://schemas.openxmlformats.org/drawingml/2006/main">
              <a:ext uri="{FF2B5EF4-FFF2-40B4-BE49-F238E27FC236}">
                <a16:creationId xmlns:a16="http://schemas.microsoft.com/office/drawing/2014/main" id="{3A449C6A-39EA-4983-82D8-A58239BE7F56}"/>
              </a:ext>
            </a:extLst>
          </p:cNvPr>
          <p:cNvSpPr>
            <a:spLocks xmlns:a="http://schemas.openxmlformats.org/drawingml/2006/main" noGrp="1"/>
          </p:cNvSpPr>
          <p:nvPr/>
        </p:nvSpPr>
        <p:spPr>
          <a:xfrm xmlns:a="http://schemas.openxmlformats.org/drawingml/2006/main">
            <a:off x="8420100" y="6229350"/>
            <a:ext cx="2952750" cy="457200"/>
          </a:xfrm>
          <a:prstGeom xmlns:a="http://schemas.openxmlformats.org/drawingml/2006/main" prst="rect">
            <a:avLst/>
          </a:prstGeom>
          <a:solidFill xmlns:a="http://schemas.openxmlformats.org/drawingml/2006/main">
            <a:srgbClr val="EDF7EE"/>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200" b="1">
                <a:solidFill>
                  <a:srgbClr val="5F6D7F"/>
                </a:solidFill>
              </a:defRPr>
            </a:pPr>
            <a:r>
              <a:rPr sz="1200" b="1">
                <a:solidFill>
                  <a:srgbClr val="5F6D7F"/>
                </a:solidFill>
              </a:rPr>
              <a:t>of Milestone 1 behavior retained</a:t>
            </a:r>
          </a:p>
        </p:txBody>
      </p:sp>
    </p:spTree>
    <p:extLst>
      <p:ext uri="{BB962C8B-B14F-4D97-AF65-F5344CB8AC3E}">
        <p14:creationId xmlns:p14="http://schemas.microsoft.com/office/powerpoint/2010/main" val="1459049984"/>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1DC8211-31E6-422C-BAFD-AE1891C45EE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65E09446-D421-4128-94F9-76021C77C269}"/>
              </a:ext>
            </a:extLst>
          </p:cNvPr>
          <p:cNvSpPr>
            <a:spLocks xmlns:a="http://schemas.openxmlformats.org/drawingml/2006/main" noGrp="1"/>
          </p:cNvSpPr>
          <p:nvPr/>
        </p:nvSpPr>
        <p:spPr>
          <a:xfrm xmlns:a="http://schemas.openxmlformats.org/drawingml/2006/main">
            <a:off x="666750" y="381000"/>
            <a:ext cx="9334500" cy="81915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2550" b="1">
                <a:solidFill>
                  <a:srgbClr val="152235"/>
                </a:solidFill>
              </a:defRPr>
            </a:pPr>
            <a:r>
              <a:rPr sz="2550" b="1">
                <a:solidFill>
                  <a:srgbClr val="152235"/>
                </a:solidFill>
              </a:rPr>
              <a:t>System architecture</a:t>
            </a:r>
          </a:p>
        </p:txBody>
      </p:sp>
      <p:sp>
        <p:nvSpPr>
          <p:cNvPr id="3" name="">
            <a:extLst xmlns:a="http://schemas.openxmlformats.org/drawingml/2006/main">
              <a:ext uri="{FF2B5EF4-FFF2-40B4-BE49-F238E27FC236}">
                <a16:creationId xmlns:a16="http://schemas.microsoft.com/office/drawing/2014/main" id="{71650240-D8DC-48D2-AE70-DEF4676E852A}"/>
              </a:ext>
            </a:extLst>
          </p:cNvPr>
          <p:cNvSpPr>
            <a:spLocks xmlns:a="http://schemas.openxmlformats.org/drawingml/2006/main" noGrp="1"/>
          </p:cNvSpPr>
          <p:nvPr/>
        </p:nvSpPr>
        <p:spPr>
          <a:xfrm xmlns:a="http://schemas.openxmlformats.org/drawingml/2006/main">
            <a:off x="666750" y="1066800"/>
            <a:ext cx="9334500" cy="40005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The release is intentionally simple: local extraction and modeling on one side, grounded reporting on the other.</a:t>
            </a:r>
          </a:p>
        </p:txBody>
      </p:sp>
      <p:sp>
        <p:nvSpPr>
          <p:cNvPr id="4" name="">
            <a:extLst xmlns:a="http://schemas.openxmlformats.org/drawingml/2006/main">
              <a:ext uri="{FF2B5EF4-FFF2-40B4-BE49-F238E27FC236}">
                <a16:creationId xmlns:a16="http://schemas.microsoft.com/office/drawing/2014/main" id="{EF9A8EE2-9D50-4490-B9C4-C2CF714C7FD3}"/>
              </a:ext>
            </a:extLst>
          </p:cNvPr>
          <p:cNvSpPr>
            <a:spLocks xmlns:a="http://schemas.openxmlformats.org/drawingml/2006/main" noGrp="1"/>
          </p:cNvSpPr>
          <p:nvPr/>
        </p:nvSpPr>
        <p:spPr>
          <a:xfrm xmlns:a="http://schemas.openxmlformats.org/drawingml/2006/main">
            <a:off x="10858500" y="6381750"/>
            <a:ext cx="857250" cy="22860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r">
              <a:defRPr sz="975" b="1">
                <a:solidFill>
                  <a:srgbClr val="5F6D7F"/>
                </a:solidFill>
              </a:defRPr>
            </a:pPr>
            <a:r>
              <a:rPr sz="975" b="1">
                <a:solidFill>
                  <a:srgbClr val="5F6D7F"/>
                </a:solidFill>
              </a:rPr>
              <a:t>03</a:t>
            </a:r>
          </a:p>
        </p:txBody>
      </p:sp>
      <p:sp>
        <p:nvSpPr>
          <p:cNvPr id="5" name="">
            <a:extLst xmlns:a="http://schemas.openxmlformats.org/drawingml/2006/main">
              <a:ext uri="{FF2B5EF4-FFF2-40B4-BE49-F238E27FC236}">
                <a16:creationId xmlns:a16="http://schemas.microsoft.com/office/drawing/2014/main" id="{BA0F554B-C1C1-47BE-AB3A-741075AA6C25}"/>
              </a:ext>
            </a:extLst>
          </p:cNvPr>
          <p:cNvSpPr>
            <a:spLocks xmlns:a="http://schemas.openxmlformats.org/drawingml/2006/main" noGrp="1"/>
          </p:cNvSpPr>
          <p:nvPr/>
        </p:nvSpPr>
        <p:spPr>
          <a:xfrm xmlns:a="http://schemas.openxmlformats.org/drawingml/2006/main">
            <a:off x="666750" y="1809750"/>
            <a:ext cx="1714500" cy="1047750"/>
          </a:xfrm>
          <a:prstGeom xmlns:a="http://schemas.openxmlformats.org/drawingml/2006/main" prst="roundRect">
            <a:avLst>
              <a:gd name="adj" fmla="val 7273"/>
            </a:avLst>
          </a:prstGeom>
          <a:solidFill xmlns:a="http://schemas.openxmlformats.org/drawingml/2006/main">
            <a:srgbClr val="D9F5EF"/>
          </a:solidFill>
          <a:ln xmlns:a="http://schemas.openxmlformats.org/drawingml/2006/main" w="9525">
            <a:solidFill>
              <a:srgbClr val="D8E1EB"/>
            </a:solidFill>
          </a:ln>
        </p:spPr>
      </p:sp>
      <p:sp>
        <p:nvSpPr>
          <p:cNvPr id="6" name="">
            <a:extLst xmlns:a="http://schemas.openxmlformats.org/drawingml/2006/main">
              <a:ext uri="{FF2B5EF4-FFF2-40B4-BE49-F238E27FC236}">
                <a16:creationId xmlns:a16="http://schemas.microsoft.com/office/drawing/2014/main" id="{688553D4-A231-48E2-8A93-477B702E1576}"/>
              </a:ext>
            </a:extLst>
          </p:cNvPr>
          <p:cNvSpPr>
            <a:spLocks xmlns:a="http://schemas.openxmlformats.org/drawingml/2006/main" noGrp="1"/>
          </p:cNvSpPr>
          <p:nvPr/>
        </p:nvSpPr>
        <p:spPr>
          <a:xfrm xmlns:a="http://schemas.openxmlformats.org/drawingml/2006/main">
            <a:off x="819150" y="1962150"/>
            <a:ext cx="114300" cy="742950"/>
          </a:xfrm>
          <a:prstGeom xmlns:a="http://schemas.openxmlformats.org/drawingml/2006/main" prst="roundRect">
            <a:avLst>
              <a:gd name="adj" fmla="val 50000"/>
            </a:avLst>
          </a:prstGeom>
          <a:solidFill xmlns:a="http://schemas.openxmlformats.org/drawingml/2006/main">
            <a:srgbClr val="2DB7A3"/>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A2F81E95-B544-4C8F-A99A-D142010E5B38}"/>
              </a:ext>
            </a:extLst>
          </p:cNvPr>
          <p:cNvSpPr>
            <a:spLocks xmlns:a="http://schemas.openxmlformats.org/drawingml/2006/main" noGrp="1"/>
          </p:cNvSpPr>
          <p:nvPr/>
        </p:nvSpPr>
        <p:spPr>
          <a:xfrm xmlns:a="http://schemas.openxmlformats.org/drawingml/2006/main">
            <a:off x="1047750" y="1981200"/>
            <a:ext cx="1181100" cy="323850"/>
          </a:xfrm>
          <a:prstGeom xmlns:a="http://schemas.openxmlformats.org/drawingml/2006/main" prst="rect">
            <a:avLst/>
          </a:prstGeom>
          <a:solidFill xmlns:a="http://schemas.openxmlformats.org/drawingml/2006/main">
            <a:srgbClr val="D9F5E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Upload</a:t>
            </a:r>
          </a:p>
        </p:txBody>
      </p:sp>
      <p:sp>
        <p:nvSpPr>
          <p:cNvPr id="8" name="">
            <a:extLst xmlns:a="http://schemas.openxmlformats.org/drawingml/2006/main">
              <a:ext uri="{FF2B5EF4-FFF2-40B4-BE49-F238E27FC236}">
                <a16:creationId xmlns:a16="http://schemas.microsoft.com/office/drawing/2014/main" id="{FB86740E-70CE-4019-A617-5F3082E9C156}"/>
              </a:ext>
            </a:extLst>
          </p:cNvPr>
          <p:cNvSpPr>
            <a:spLocks xmlns:a="http://schemas.openxmlformats.org/drawingml/2006/main" noGrp="1"/>
          </p:cNvSpPr>
          <p:nvPr/>
        </p:nvSpPr>
        <p:spPr>
          <a:xfrm xmlns:a="http://schemas.openxmlformats.org/drawingml/2006/main">
            <a:off x="1047750" y="2362200"/>
            <a:ext cx="1181100" cy="361950"/>
          </a:xfrm>
          <a:prstGeom xmlns:a="http://schemas.openxmlformats.org/drawingml/2006/main" prst="rect">
            <a:avLst/>
          </a:prstGeom>
          <a:solidFill xmlns:a="http://schemas.openxmlformats.org/drawingml/2006/main">
            <a:srgbClr val="D9F5E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PDF or TXT</a:t>
            </a:r>
          </a:p>
        </p:txBody>
      </p:sp>
      <p:sp>
        <p:nvSpPr>
          <p:cNvPr id="9" name="">
            <a:extLst xmlns:a="http://schemas.openxmlformats.org/drawingml/2006/main">
              <a:ext uri="{FF2B5EF4-FFF2-40B4-BE49-F238E27FC236}">
                <a16:creationId xmlns:a16="http://schemas.microsoft.com/office/drawing/2014/main" id="{87DCD275-9D82-4E9D-81DF-4DCBE7FD60D3}"/>
              </a:ext>
            </a:extLst>
          </p:cNvPr>
          <p:cNvSpPr>
            <a:spLocks xmlns:a="http://schemas.openxmlformats.org/drawingml/2006/main" noGrp="1"/>
          </p:cNvSpPr>
          <p:nvPr/>
        </p:nvSpPr>
        <p:spPr>
          <a:xfrm xmlns:a="http://schemas.openxmlformats.org/drawingml/2006/main">
            <a:off x="2457450" y="2209800"/>
            <a:ext cx="209550" cy="228600"/>
          </a:xfrm>
          <a:prstGeom xmlns:a="http://schemas.openxmlformats.org/drawingml/2006/main" prst="rightArrow">
            <a:avLst/>
          </a:prstGeom>
          <a:solidFill xmlns:a="http://schemas.openxmlformats.org/drawingml/2006/main">
            <a:srgbClr val="5F6D7F"/>
          </a:solidFill>
          <a:ln xmlns:a="http://schemas.openxmlformats.org/drawingml/2006/main">
            <a:noFill/>
          </a:ln>
        </p:spPr>
      </p:sp>
      <p:sp>
        <p:nvSpPr>
          <p:cNvPr id="10" name="">
            <a:extLst xmlns:a="http://schemas.openxmlformats.org/drawingml/2006/main">
              <a:ext uri="{FF2B5EF4-FFF2-40B4-BE49-F238E27FC236}">
                <a16:creationId xmlns:a16="http://schemas.microsoft.com/office/drawing/2014/main" id="{0B0361C1-4C5B-4ED6-BDB4-55B853174743}"/>
              </a:ext>
            </a:extLst>
          </p:cNvPr>
          <p:cNvSpPr>
            <a:spLocks xmlns:a="http://schemas.openxmlformats.org/drawingml/2006/main" noGrp="1"/>
          </p:cNvSpPr>
          <p:nvPr/>
        </p:nvSpPr>
        <p:spPr>
          <a:xfrm xmlns:a="http://schemas.openxmlformats.org/drawingml/2006/main">
            <a:off x="2667000" y="1809750"/>
            <a:ext cx="1714500" cy="1047750"/>
          </a:xfrm>
          <a:prstGeom xmlns:a="http://schemas.openxmlformats.org/drawingml/2006/main" prst="roundRect">
            <a:avLst>
              <a:gd name="adj" fmla="val 7273"/>
            </a:avLst>
          </a:prstGeom>
          <a:solidFill xmlns:a="http://schemas.openxmlformats.org/drawingml/2006/main">
            <a:srgbClr val="EEF4FB"/>
          </a:solidFill>
          <a:ln xmlns:a="http://schemas.openxmlformats.org/drawingml/2006/main" w="9525">
            <a:solidFill>
              <a:srgbClr val="D8E1EB"/>
            </a:solidFill>
          </a:ln>
        </p:spPr>
      </p:sp>
      <p:sp>
        <p:nvSpPr>
          <p:cNvPr id="11" name="">
            <a:extLst xmlns:a="http://schemas.openxmlformats.org/drawingml/2006/main">
              <a:ext uri="{FF2B5EF4-FFF2-40B4-BE49-F238E27FC236}">
                <a16:creationId xmlns:a16="http://schemas.microsoft.com/office/drawing/2014/main" id="{A62010B3-C60A-4713-B35E-0183A8CA8B66}"/>
              </a:ext>
            </a:extLst>
          </p:cNvPr>
          <p:cNvSpPr>
            <a:spLocks xmlns:a="http://schemas.openxmlformats.org/drawingml/2006/main" noGrp="1"/>
          </p:cNvSpPr>
          <p:nvPr/>
        </p:nvSpPr>
        <p:spPr>
          <a:xfrm xmlns:a="http://schemas.openxmlformats.org/drawingml/2006/main">
            <a:off x="2819400" y="1962150"/>
            <a:ext cx="114300" cy="742950"/>
          </a:xfrm>
          <a:prstGeom xmlns:a="http://schemas.openxmlformats.org/drawingml/2006/main" prst="roundRect">
            <a:avLst>
              <a:gd name="adj" fmla="val 50000"/>
            </a:avLst>
          </a:prstGeom>
          <a:solidFill xmlns:a="http://schemas.openxmlformats.org/drawingml/2006/main">
            <a:srgbClr val="2DB7A3"/>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A853949E-5BC4-4600-BE94-4CED07C653D0}"/>
              </a:ext>
            </a:extLst>
          </p:cNvPr>
          <p:cNvSpPr>
            <a:spLocks xmlns:a="http://schemas.openxmlformats.org/drawingml/2006/main" noGrp="1"/>
          </p:cNvSpPr>
          <p:nvPr/>
        </p:nvSpPr>
        <p:spPr>
          <a:xfrm xmlns:a="http://schemas.openxmlformats.org/drawingml/2006/main">
            <a:off x="3048000" y="1981200"/>
            <a:ext cx="1181100" cy="323850"/>
          </a:xfrm>
          <a:prstGeom xmlns:a="http://schemas.openxmlformats.org/drawingml/2006/main" prst="rect">
            <a:avLst/>
          </a:prstGeom>
          <a:solidFill xmlns:a="http://schemas.openxmlformats.org/drawingml/2006/main">
            <a:srgbClr val="EEF4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Extraction</a:t>
            </a:r>
          </a:p>
        </p:txBody>
      </p:sp>
      <p:sp>
        <p:nvSpPr>
          <p:cNvPr id="13" name="">
            <a:extLst xmlns:a="http://schemas.openxmlformats.org/drawingml/2006/main">
              <a:ext uri="{FF2B5EF4-FFF2-40B4-BE49-F238E27FC236}">
                <a16:creationId xmlns:a16="http://schemas.microsoft.com/office/drawing/2014/main" id="{EFD0E04F-159F-45F4-BF59-CA453F5CB1F3}"/>
              </a:ext>
            </a:extLst>
          </p:cNvPr>
          <p:cNvSpPr>
            <a:spLocks xmlns:a="http://schemas.openxmlformats.org/drawingml/2006/main" noGrp="1"/>
          </p:cNvSpPr>
          <p:nvPr/>
        </p:nvSpPr>
        <p:spPr>
          <a:xfrm xmlns:a="http://schemas.openxmlformats.org/drawingml/2006/main">
            <a:off x="3048000" y="2362200"/>
            <a:ext cx="1181100" cy="361950"/>
          </a:xfrm>
          <a:prstGeom xmlns:a="http://schemas.openxmlformats.org/drawingml/2006/main" prst="rect">
            <a:avLst/>
          </a:prstGeom>
          <a:solidFill xmlns:a="http://schemas.openxmlformats.org/drawingml/2006/main">
            <a:srgbClr val="EEF4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Text parsing</a:t>
            </a:r>
          </a:p>
        </p:txBody>
      </p:sp>
      <p:sp>
        <p:nvSpPr>
          <p:cNvPr id="14" name="">
            <a:extLst xmlns:a="http://schemas.openxmlformats.org/drawingml/2006/main">
              <a:ext uri="{FF2B5EF4-FFF2-40B4-BE49-F238E27FC236}">
                <a16:creationId xmlns:a16="http://schemas.microsoft.com/office/drawing/2014/main" id="{CE8CAE2C-3E7C-4FE1-BA54-6CBB76B27CE8}"/>
              </a:ext>
            </a:extLst>
          </p:cNvPr>
          <p:cNvSpPr>
            <a:spLocks xmlns:a="http://schemas.openxmlformats.org/drawingml/2006/main" noGrp="1"/>
          </p:cNvSpPr>
          <p:nvPr/>
        </p:nvSpPr>
        <p:spPr>
          <a:xfrm xmlns:a="http://schemas.openxmlformats.org/drawingml/2006/main">
            <a:off x="4457700" y="2209800"/>
            <a:ext cx="209550" cy="228600"/>
          </a:xfrm>
          <a:prstGeom xmlns:a="http://schemas.openxmlformats.org/drawingml/2006/main" prst="rightArrow">
            <a:avLst/>
          </a:prstGeom>
          <a:solidFill xmlns:a="http://schemas.openxmlformats.org/drawingml/2006/main">
            <a:srgbClr val="5F6D7F"/>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68D89078-9838-4F80-8216-AA8F32B873DE}"/>
              </a:ext>
            </a:extLst>
          </p:cNvPr>
          <p:cNvSpPr>
            <a:spLocks xmlns:a="http://schemas.openxmlformats.org/drawingml/2006/main" noGrp="1"/>
          </p:cNvSpPr>
          <p:nvPr/>
        </p:nvSpPr>
        <p:spPr>
          <a:xfrm xmlns:a="http://schemas.openxmlformats.org/drawingml/2006/main">
            <a:off x="4667250" y="1809750"/>
            <a:ext cx="1714500" cy="1047750"/>
          </a:xfrm>
          <a:prstGeom xmlns:a="http://schemas.openxmlformats.org/drawingml/2006/main" prst="roundRect">
            <a:avLst>
              <a:gd name="adj" fmla="val 7273"/>
            </a:avLst>
          </a:prstGeom>
          <a:solidFill xmlns:a="http://schemas.openxmlformats.org/drawingml/2006/main">
            <a:srgbClr val="EEF4FB"/>
          </a:solidFill>
          <a:ln xmlns:a="http://schemas.openxmlformats.org/drawingml/2006/main" w="9525">
            <a:solidFill>
              <a:srgbClr val="D8E1EB"/>
            </a:solidFill>
          </a:ln>
        </p:spPr>
      </p:sp>
      <p:sp>
        <p:nvSpPr>
          <p:cNvPr id="16" name="">
            <a:extLst xmlns:a="http://schemas.openxmlformats.org/drawingml/2006/main">
              <a:ext uri="{FF2B5EF4-FFF2-40B4-BE49-F238E27FC236}">
                <a16:creationId xmlns:a16="http://schemas.microsoft.com/office/drawing/2014/main" id="{68D31B94-FCFB-47ED-8DEC-BE0E7B36678F}"/>
              </a:ext>
            </a:extLst>
          </p:cNvPr>
          <p:cNvSpPr>
            <a:spLocks xmlns:a="http://schemas.openxmlformats.org/drawingml/2006/main" noGrp="1"/>
          </p:cNvSpPr>
          <p:nvPr/>
        </p:nvSpPr>
        <p:spPr>
          <a:xfrm xmlns:a="http://schemas.openxmlformats.org/drawingml/2006/main">
            <a:off x="4819650" y="1962150"/>
            <a:ext cx="114300" cy="742950"/>
          </a:xfrm>
          <a:prstGeom xmlns:a="http://schemas.openxmlformats.org/drawingml/2006/main" prst="roundRect">
            <a:avLst>
              <a:gd name="adj" fmla="val 50000"/>
            </a:avLst>
          </a:prstGeom>
          <a:solidFill xmlns:a="http://schemas.openxmlformats.org/drawingml/2006/main">
            <a:srgbClr val="11263F"/>
          </a:soli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4EEF901B-25EE-4FCF-9957-3E5C8E65F5D1}"/>
              </a:ext>
            </a:extLst>
          </p:cNvPr>
          <p:cNvSpPr>
            <a:spLocks xmlns:a="http://schemas.openxmlformats.org/drawingml/2006/main" noGrp="1"/>
          </p:cNvSpPr>
          <p:nvPr/>
        </p:nvSpPr>
        <p:spPr>
          <a:xfrm xmlns:a="http://schemas.openxmlformats.org/drawingml/2006/main">
            <a:off x="5048250" y="1981200"/>
            <a:ext cx="1181100" cy="323850"/>
          </a:xfrm>
          <a:prstGeom xmlns:a="http://schemas.openxmlformats.org/drawingml/2006/main" prst="rect">
            <a:avLst/>
          </a:prstGeom>
          <a:solidFill xmlns:a="http://schemas.openxmlformats.org/drawingml/2006/main">
            <a:srgbClr val="EEF4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Segmentation</a:t>
            </a:r>
          </a:p>
        </p:txBody>
      </p:sp>
      <p:sp>
        <p:nvSpPr>
          <p:cNvPr id="18" name="">
            <a:extLst xmlns:a="http://schemas.openxmlformats.org/drawingml/2006/main">
              <a:ext uri="{FF2B5EF4-FFF2-40B4-BE49-F238E27FC236}">
                <a16:creationId xmlns:a16="http://schemas.microsoft.com/office/drawing/2014/main" id="{49994D4A-6AFE-49F6-B855-139E23C82032}"/>
              </a:ext>
            </a:extLst>
          </p:cNvPr>
          <p:cNvSpPr>
            <a:spLocks xmlns:a="http://schemas.openxmlformats.org/drawingml/2006/main" noGrp="1"/>
          </p:cNvSpPr>
          <p:nvPr/>
        </p:nvSpPr>
        <p:spPr>
          <a:xfrm xmlns:a="http://schemas.openxmlformats.org/drawingml/2006/main">
            <a:off x="5048250" y="2362200"/>
            <a:ext cx="1181100" cy="361950"/>
          </a:xfrm>
          <a:prstGeom xmlns:a="http://schemas.openxmlformats.org/drawingml/2006/main" prst="rect">
            <a:avLst/>
          </a:prstGeom>
          <a:solidFill xmlns:a="http://schemas.openxmlformats.org/drawingml/2006/main">
            <a:srgbClr val="EEF4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Clause units</a:t>
            </a:r>
          </a:p>
        </p:txBody>
      </p:sp>
      <p:sp>
        <p:nvSpPr>
          <p:cNvPr id="19" name="">
            <a:extLst xmlns:a="http://schemas.openxmlformats.org/drawingml/2006/main">
              <a:ext uri="{FF2B5EF4-FFF2-40B4-BE49-F238E27FC236}">
                <a16:creationId xmlns:a16="http://schemas.microsoft.com/office/drawing/2014/main" id="{2D5B6F7D-4095-4005-A012-65296FBA8F0C}"/>
              </a:ext>
            </a:extLst>
          </p:cNvPr>
          <p:cNvSpPr>
            <a:spLocks xmlns:a="http://schemas.openxmlformats.org/drawingml/2006/main" noGrp="1"/>
          </p:cNvSpPr>
          <p:nvPr/>
        </p:nvSpPr>
        <p:spPr>
          <a:xfrm xmlns:a="http://schemas.openxmlformats.org/drawingml/2006/main">
            <a:off x="6457950" y="2209800"/>
            <a:ext cx="209550" cy="228600"/>
          </a:xfrm>
          <a:prstGeom xmlns:a="http://schemas.openxmlformats.org/drawingml/2006/main" prst="rightArrow">
            <a:avLst/>
          </a:prstGeom>
          <a:solidFill xmlns:a="http://schemas.openxmlformats.org/drawingml/2006/main">
            <a:srgbClr val="5F6D7F"/>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36708D3F-2C19-4E14-A454-D874ADA892A2}"/>
              </a:ext>
            </a:extLst>
          </p:cNvPr>
          <p:cNvSpPr>
            <a:spLocks xmlns:a="http://schemas.openxmlformats.org/drawingml/2006/main" noGrp="1"/>
          </p:cNvSpPr>
          <p:nvPr/>
        </p:nvSpPr>
        <p:spPr>
          <a:xfrm xmlns:a="http://schemas.openxmlformats.org/drawingml/2006/main">
            <a:off x="6667500" y="1809750"/>
            <a:ext cx="1714500" cy="1047750"/>
          </a:xfrm>
          <a:prstGeom xmlns:a="http://schemas.openxmlformats.org/drawingml/2006/main" prst="roundRect">
            <a:avLst>
              <a:gd name="adj" fmla="val 7273"/>
            </a:avLst>
          </a:prstGeom>
          <a:solidFill xmlns:a="http://schemas.openxmlformats.org/drawingml/2006/main">
            <a:srgbClr val="FFF2DD"/>
          </a:solidFill>
          <a:ln xmlns:a="http://schemas.openxmlformats.org/drawingml/2006/main" w="9525">
            <a:solidFill>
              <a:srgbClr val="D8E1EB"/>
            </a:solidFill>
          </a:ln>
        </p:spPr>
      </p:sp>
      <p:sp>
        <p:nvSpPr>
          <p:cNvPr id="21" name="">
            <a:extLst xmlns:a="http://schemas.openxmlformats.org/drawingml/2006/main">
              <a:ext uri="{FF2B5EF4-FFF2-40B4-BE49-F238E27FC236}">
                <a16:creationId xmlns:a16="http://schemas.microsoft.com/office/drawing/2014/main" id="{DAD2749D-FFBC-49A9-BCE7-58106FD063D3}"/>
              </a:ext>
            </a:extLst>
          </p:cNvPr>
          <p:cNvSpPr>
            <a:spLocks xmlns:a="http://schemas.openxmlformats.org/drawingml/2006/main" noGrp="1"/>
          </p:cNvSpPr>
          <p:nvPr/>
        </p:nvSpPr>
        <p:spPr>
          <a:xfrm xmlns:a="http://schemas.openxmlformats.org/drawingml/2006/main">
            <a:off x="6819900" y="1962150"/>
            <a:ext cx="114300" cy="742950"/>
          </a:xfrm>
          <a:prstGeom xmlns:a="http://schemas.openxmlformats.org/drawingml/2006/main" prst="roundRect">
            <a:avLst>
              <a:gd name="adj" fmla="val 50000"/>
            </a:avLst>
          </a:prstGeom>
          <a:solidFill xmlns:a="http://schemas.openxmlformats.org/drawingml/2006/main">
            <a:srgbClr val="F0B35D"/>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7BFA3F52-6255-40BD-825D-3419129C1F25}"/>
              </a:ext>
            </a:extLst>
          </p:cNvPr>
          <p:cNvSpPr>
            <a:spLocks xmlns:a="http://schemas.openxmlformats.org/drawingml/2006/main" noGrp="1"/>
          </p:cNvSpPr>
          <p:nvPr/>
        </p:nvSpPr>
        <p:spPr>
          <a:xfrm xmlns:a="http://schemas.openxmlformats.org/drawingml/2006/main">
            <a:off x="7048500" y="1981200"/>
            <a:ext cx="1181100" cy="323850"/>
          </a:xfrm>
          <a:prstGeom xmlns:a="http://schemas.openxmlformats.org/drawingml/2006/main" prst="rect">
            <a:avLst/>
          </a:prstGeom>
          <a:solidFill xmlns:a="http://schemas.openxmlformats.org/drawingml/2006/main">
            <a:srgbClr val="FFF2DD"/>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Classifier</a:t>
            </a:r>
          </a:p>
        </p:txBody>
      </p:sp>
      <p:sp>
        <p:nvSpPr>
          <p:cNvPr id="23" name="">
            <a:extLst xmlns:a="http://schemas.openxmlformats.org/drawingml/2006/main">
              <a:ext uri="{FF2B5EF4-FFF2-40B4-BE49-F238E27FC236}">
                <a16:creationId xmlns:a16="http://schemas.microsoft.com/office/drawing/2014/main" id="{2E082BB6-DEDF-4EFE-BBBF-3DDE057FE40D}"/>
              </a:ext>
            </a:extLst>
          </p:cNvPr>
          <p:cNvSpPr>
            <a:spLocks xmlns:a="http://schemas.openxmlformats.org/drawingml/2006/main" noGrp="1"/>
          </p:cNvSpPr>
          <p:nvPr/>
        </p:nvSpPr>
        <p:spPr>
          <a:xfrm xmlns:a="http://schemas.openxmlformats.org/drawingml/2006/main">
            <a:off x="7048500" y="2362200"/>
            <a:ext cx="1181100" cy="361950"/>
          </a:xfrm>
          <a:prstGeom xmlns:a="http://schemas.openxmlformats.org/drawingml/2006/main" prst="rect">
            <a:avLst/>
          </a:prstGeom>
          <a:solidFill xmlns:a="http://schemas.openxmlformats.org/drawingml/2006/main">
            <a:srgbClr val="FFF2DD"/>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TF-IDF + LogReg</a:t>
            </a:r>
          </a:p>
        </p:txBody>
      </p:sp>
      <p:sp>
        <p:nvSpPr>
          <p:cNvPr id="24" name="">
            <a:extLst xmlns:a="http://schemas.openxmlformats.org/drawingml/2006/main">
              <a:ext uri="{FF2B5EF4-FFF2-40B4-BE49-F238E27FC236}">
                <a16:creationId xmlns:a16="http://schemas.microsoft.com/office/drawing/2014/main" id="{69A2955D-CA82-4E61-B81A-D5B2F5E27200}"/>
              </a:ext>
            </a:extLst>
          </p:cNvPr>
          <p:cNvSpPr>
            <a:spLocks xmlns:a="http://schemas.openxmlformats.org/drawingml/2006/main" noGrp="1"/>
          </p:cNvSpPr>
          <p:nvPr/>
        </p:nvSpPr>
        <p:spPr>
          <a:xfrm xmlns:a="http://schemas.openxmlformats.org/drawingml/2006/main">
            <a:off x="8458200" y="2209800"/>
            <a:ext cx="209550" cy="228600"/>
          </a:xfrm>
          <a:prstGeom xmlns:a="http://schemas.openxmlformats.org/drawingml/2006/main" prst="rightArrow">
            <a:avLst/>
          </a:prstGeom>
          <a:solidFill xmlns:a="http://schemas.openxmlformats.org/drawingml/2006/main">
            <a:srgbClr val="5F6D7F"/>
          </a:solidFill>
          <a:ln xmlns:a="http://schemas.openxmlformats.org/drawingml/2006/main">
            <a:noFill/>
          </a:ln>
        </p:spPr>
      </p:sp>
      <p:sp>
        <p:nvSpPr>
          <p:cNvPr id="25" name="">
            <a:extLst xmlns:a="http://schemas.openxmlformats.org/drawingml/2006/main">
              <a:ext uri="{FF2B5EF4-FFF2-40B4-BE49-F238E27FC236}">
                <a16:creationId xmlns:a16="http://schemas.microsoft.com/office/drawing/2014/main" id="{080B6EAE-E774-41E1-B714-D1F562C70ED9}"/>
              </a:ext>
            </a:extLst>
          </p:cNvPr>
          <p:cNvSpPr>
            <a:spLocks xmlns:a="http://schemas.openxmlformats.org/drawingml/2006/main" noGrp="1"/>
          </p:cNvSpPr>
          <p:nvPr/>
        </p:nvSpPr>
        <p:spPr>
          <a:xfrm xmlns:a="http://schemas.openxmlformats.org/drawingml/2006/main">
            <a:off x="8667750" y="1809750"/>
            <a:ext cx="1714500" cy="1047750"/>
          </a:xfrm>
          <a:prstGeom xmlns:a="http://schemas.openxmlformats.org/drawingml/2006/main" prst="roundRect">
            <a:avLst>
              <a:gd name="adj" fmla="val 7273"/>
            </a:avLst>
          </a:prstGeom>
          <a:solidFill xmlns:a="http://schemas.openxmlformats.org/drawingml/2006/main">
            <a:srgbClr val="EEF4FB"/>
          </a:solidFill>
          <a:ln xmlns:a="http://schemas.openxmlformats.org/drawingml/2006/main" w="9525">
            <a:solidFill>
              <a:srgbClr val="D8E1EB"/>
            </a:solidFill>
          </a:ln>
        </p:spPr>
      </p:sp>
      <p:sp>
        <p:nvSpPr>
          <p:cNvPr id="26" name="">
            <a:extLst xmlns:a="http://schemas.openxmlformats.org/drawingml/2006/main">
              <a:ext uri="{FF2B5EF4-FFF2-40B4-BE49-F238E27FC236}">
                <a16:creationId xmlns:a16="http://schemas.microsoft.com/office/drawing/2014/main" id="{B2CE7C85-296F-4B32-B517-66FEEB754694}"/>
              </a:ext>
            </a:extLst>
          </p:cNvPr>
          <p:cNvSpPr>
            <a:spLocks xmlns:a="http://schemas.openxmlformats.org/drawingml/2006/main" noGrp="1"/>
          </p:cNvSpPr>
          <p:nvPr/>
        </p:nvSpPr>
        <p:spPr>
          <a:xfrm xmlns:a="http://schemas.openxmlformats.org/drawingml/2006/main">
            <a:off x="8820150" y="1962150"/>
            <a:ext cx="114300" cy="742950"/>
          </a:xfrm>
          <a:prstGeom xmlns:a="http://schemas.openxmlformats.org/drawingml/2006/main" prst="roundRect">
            <a:avLst>
              <a:gd name="adj" fmla="val 50000"/>
            </a:avLst>
          </a:prstGeom>
          <a:solidFill xmlns:a="http://schemas.openxmlformats.org/drawingml/2006/main">
            <a:srgbClr val="11263F"/>
          </a:solidFill>
          <a:ln xmlns:a="http://schemas.openxmlformats.org/drawingml/2006/main">
            <a:noFill/>
          </a:ln>
        </p:spPr>
      </p:sp>
      <p:sp>
        <p:nvSpPr>
          <p:cNvPr id="27" name="">
            <a:extLst xmlns:a="http://schemas.openxmlformats.org/drawingml/2006/main">
              <a:ext uri="{FF2B5EF4-FFF2-40B4-BE49-F238E27FC236}">
                <a16:creationId xmlns:a16="http://schemas.microsoft.com/office/drawing/2014/main" id="{CC996F22-E43F-4368-ACAD-66127E928355}"/>
              </a:ext>
            </a:extLst>
          </p:cNvPr>
          <p:cNvSpPr>
            <a:spLocks xmlns:a="http://schemas.openxmlformats.org/drawingml/2006/main" noGrp="1"/>
          </p:cNvSpPr>
          <p:nvPr/>
        </p:nvSpPr>
        <p:spPr>
          <a:xfrm xmlns:a="http://schemas.openxmlformats.org/drawingml/2006/main">
            <a:off x="9048750" y="1981200"/>
            <a:ext cx="1181100" cy="323850"/>
          </a:xfrm>
          <a:prstGeom xmlns:a="http://schemas.openxmlformats.org/drawingml/2006/main" prst="rect">
            <a:avLst/>
          </a:prstGeom>
          <a:solidFill xmlns:a="http://schemas.openxmlformats.org/drawingml/2006/main">
            <a:srgbClr val="EEF4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Risk</a:t>
            </a:r>
          </a:p>
        </p:txBody>
      </p:sp>
      <p:sp>
        <p:nvSpPr>
          <p:cNvPr id="28" name="">
            <a:extLst xmlns:a="http://schemas.openxmlformats.org/drawingml/2006/main">
              <a:ext uri="{FF2B5EF4-FFF2-40B4-BE49-F238E27FC236}">
                <a16:creationId xmlns:a16="http://schemas.microsoft.com/office/drawing/2014/main" id="{09AF7071-6760-4B5D-B079-A862F7E9CE27}"/>
              </a:ext>
            </a:extLst>
          </p:cNvPr>
          <p:cNvSpPr>
            <a:spLocks xmlns:a="http://schemas.openxmlformats.org/drawingml/2006/main" noGrp="1"/>
          </p:cNvSpPr>
          <p:nvPr/>
        </p:nvSpPr>
        <p:spPr>
          <a:xfrm xmlns:a="http://schemas.openxmlformats.org/drawingml/2006/main">
            <a:off x="9048750" y="2362200"/>
            <a:ext cx="1181100" cy="361950"/>
          </a:xfrm>
          <a:prstGeom xmlns:a="http://schemas.openxmlformats.org/drawingml/2006/main" prst="rect">
            <a:avLst/>
          </a:prstGeom>
          <a:solidFill xmlns:a="http://schemas.openxmlformats.org/drawingml/2006/main">
            <a:srgbClr val="EEF4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Mapping layer</a:t>
            </a:r>
          </a:p>
        </p:txBody>
      </p:sp>
      <p:sp>
        <p:nvSpPr>
          <p:cNvPr id="29" name="">
            <a:extLst xmlns:a="http://schemas.openxmlformats.org/drawingml/2006/main">
              <a:ext uri="{FF2B5EF4-FFF2-40B4-BE49-F238E27FC236}">
                <a16:creationId xmlns:a16="http://schemas.microsoft.com/office/drawing/2014/main" id="{96B72DBE-C510-46AC-BF43-F78631929BB1}"/>
              </a:ext>
            </a:extLst>
          </p:cNvPr>
          <p:cNvSpPr>
            <a:spLocks xmlns:a="http://schemas.openxmlformats.org/drawingml/2006/main" noGrp="1"/>
          </p:cNvSpPr>
          <p:nvPr/>
        </p:nvSpPr>
        <p:spPr>
          <a:xfrm xmlns:a="http://schemas.openxmlformats.org/drawingml/2006/main">
            <a:off x="1047750" y="3429000"/>
            <a:ext cx="32385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8E1EB"/>
            </a:solidFill>
          </a:ln>
        </p:spPr>
      </p:sp>
      <p:sp>
        <p:nvSpPr>
          <p:cNvPr id="30" name="">
            <a:extLst xmlns:a="http://schemas.openxmlformats.org/drawingml/2006/main">
              <a:ext uri="{FF2B5EF4-FFF2-40B4-BE49-F238E27FC236}">
                <a16:creationId xmlns:a16="http://schemas.microsoft.com/office/drawing/2014/main" id="{291F8CF9-C912-462A-8A0B-CEB07F0E0B01}"/>
              </a:ext>
            </a:extLst>
          </p:cNvPr>
          <p:cNvSpPr>
            <a:spLocks xmlns:a="http://schemas.openxmlformats.org/drawingml/2006/main" noGrp="1"/>
          </p:cNvSpPr>
          <p:nvPr/>
        </p:nvSpPr>
        <p:spPr>
          <a:xfrm xmlns:a="http://schemas.openxmlformats.org/drawingml/2006/main">
            <a:off x="1200150" y="3581400"/>
            <a:ext cx="114300" cy="1885950"/>
          </a:xfrm>
          <a:prstGeom xmlns:a="http://schemas.openxmlformats.org/drawingml/2006/main" prst="roundRect">
            <a:avLst>
              <a:gd name="adj" fmla="val 50000"/>
            </a:avLst>
          </a:prstGeom>
          <a:solidFill xmlns:a="http://schemas.openxmlformats.org/drawingml/2006/main">
            <a:srgbClr val="2DB7A3"/>
          </a:solidFill>
          <a:ln xmlns:a="http://schemas.openxmlformats.org/drawingml/2006/main">
            <a:noFill/>
          </a:ln>
        </p:spPr>
      </p:sp>
      <p:sp>
        <p:nvSpPr>
          <p:cNvPr id="31" name="">
            <a:extLst xmlns:a="http://schemas.openxmlformats.org/drawingml/2006/main">
              <a:ext uri="{FF2B5EF4-FFF2-40B4-BE49-F238E27FC236}">
                <a16:creationId xmlns:a16="http://schemas.microsoft.com/office/drawing/2014/main" id="{3868CBB9-8812-42AF-8B9E-DDBD20DF671C}"/>
              </a:ext>
            </a:extLst>
          </p:cNvPr>
          <p:cNvSpPr>
            <a:spLocks xmlns:a="http://schemas.openxmlformats.org/drawingml/2006/main" noGrp="1"/>
          </p:cNvSpPr>
          <p:nvPr/>
        </p:nvSpPr>
        <p:spPr>
          <a:xfrm xmlns:a="http://schemas.openxmlformats.org/drawingml/2006/main">
            <a:off x="1428750" y="3600450"/>
            <a:ext cx="270510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Local knowledge base</a:t>
            </a:r>
          </a:p>
        </p:txBody>
      </p:sp>
      <p:sp>
        <p:nvSpPr>
          <p:cNvPr id="32" name="">
            <a:extLst xmlns:a="http://schemas.openxmlformats.org/drawingml/2006/main">
              <a:ext uri="{FF2B5EF4-FFF2-40B4-BE49-F238E27FC236}">
                <a16:creationId xmlns:a16="http://schemas.microsoft.com/office/drawing/2014/main" id="{C7179588-93A7-4303-B0CA-93E4BE89653B}"/>
              </a:ext>
            </a:extLst>
          </p:cNvPr>
          <p:cNvSpPr>
            <a:spLocks xmlns:a="http://schemas.openxmlformats.org/drawingml/2006/main" noGrp="1"/>
          </p:cNvSpPr>
          <p:nvPr/>
        </p:nvSpPr>
        <p:spPr>
          <a:xfrm xmlns:a="http://schemas.openxmlformats.org/drawingml/2006/main">
            <a:off x="1428750" y="3981450"/>
            <a:ext cx="2705100" cy="15049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The assistant indexes a bundled legal guidance corpus with TF-IDF retrieval. This keeps the report grounded and reproducible without depending on external services during the demo.</a:t>
            </a:r>
          </a:p>
        </p:txBody>
      </p:sp>
      <p:sp>
        <p:nvSpPr>
          <p:cNvPr id="33" name="">
            <a:extLst xmlns:a="http://schemas.openxmlformats.org/drawingml/2006/main">
              <a:ext uri="{FF2B5EF4-FFF2-40B4-BE49-F238E27FC236}">
                <a16:creationId xmlns:a16="http://schemas.microsoft.com/office/drawing/2014/main" id="{EDCCC97F-081C-4217-A4C8-33D52CBA4062}"/>
              </a:ext>
            </a:extLst>
          </p:cNvPr>
          <p:cNvSpPr>
            <a:spLocks xmlns:a="http://schemas.openxmlformats.org/drawingml/2006/main" noGrp="1"/>
          </p:cNvSpPr>
          <p:nvPr/>
        </p:nvSpPr>
        <p:spPr>
          <a:xfrm xmlns:a="http://schemas.openxmlformats.org/drawingml/2006/main">
            <a:off x="4476750" y="3429000"/>
            <a:ext cx="32385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8E1EB"/>
            </a:solidFill>
          </a:ln>
        </p:spPr>
      </p:sp>
      <p:sp>
        <p:nvSpPr>
          <p:cNvPr id="34" name="">
            <a:extLst xmlns:a="http://schemas.openxmlformats.org/drawingml/2006/main">
              <a:ext uri="{FF2B5EF4-FFF2-40B4-BE49-F238E27FC236}">
                <a16:creationId xmlns:a16="http://schemas.microsoft.com/office/drawing/2014/main" id="{1A32B565-67B2-4DCD-9249-3F86FCD2A63E}"/>
              </a:ext>
            </a:extLst>
          </p:cNvPr>
          <p:cNvSpPr>
            <a:spLocks xmlns:a="http://schemas.openxmlformats.org/drawingml/2006/main" noGrp="1"/>
          </p:cNvSpPr>
          <p:nvPr/>
        </p:nvSpPr>
        <p:spPr>
          <a:xfrm xmlns:a="http://schemas.openxmlformats.org/drawingml/2006/main">
            <a:off x="4629150" y="3581400"/>
            <a:ext cx="114300" cy="1885950"/>
          </a:xfrm>
          <a:prstGeom xmlns:a="http://schemas.openxmlformats.org/drawingml/2006/main" prst="roundRect">
            <a:avLst>
              <a:gd name="adj" fmla="val 50000"/>
            </a:avLst>
          </a:prstGeom>
          <a:solidFill xmlns:a="http://schemas.openxmlformats.org/drawingml/2006/main">
            <a:srgbClr val="F0B35D"/>
          </a:solidFill>
          <a:ln xmlns:a="http://schemas.openxmlformats.org/drawingml/2006/main">
            <a:noFill/>
          </a:ln>
        </p:spPr>
      </p:sp>
      <p:sp>
        <p:nvSpPr>
          <p:cNvPr id="35" name="">
            <a:extLst xmlns:a="http://schemas.openxmlformats.org/drawingml/2006/main">
              <a:ext uri="{FF2B5EF4-FFF2-40B4-BE49-F238E27FC236}">
                <a16:creationId xmlns:a16="http://schemas.microsoft.com/office/drawing/2014/main" id="{F3622064-6151-42EE-809D-D86C0A513E78}"/>
              </a:ext>
            </a:extLst>
          </p:cNvPr>
          <p:cNvSpPr>
            <a:spLocks xmlns:a="http://schemas.openxmlformats.org/drawingml/2006/main" noGrp="1"/>
          </p:cNvSpPr>
          <p:nvPr/>
        </p:nvSpPr>
        <p:spPr>
          <a:xfrm xmlns:a="http://schemas.openxmlformats.org/drawingml/2006/main">
            <a:off x="4857750" y="3600450"/>
            <a:ext cx="270510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Assistant report</a:t>
            </a:r>
          </a:p>
        </p:txBody>
      </p:sp>
      <p:sp>
        <p:nvSpPr>
          <p:cNvPr id="36" name="">
            <a:extLst xmlns:a="http://schemas.openxmlformats.org/drawingml/2006/main">
              <a:ext uri="{FF2B5EF4-FFF2-40B4-BE49-F238E27FC236}">
                <a16:creationId xmlns:a16="http://schemas.microsoft.com/office/drawing/2014/main" id="{9A4A1933-82D5-41BC-99BA-0CCB0B21E229}"/>
              </a:ext>
            </a:extLst>
          </p:cNvPr>
          <p:cNvSpPr>
            <a:spLocks xmlns:a="http://schemas.openxmlformats.org/drawingml/2006/main" noGrp="1"/>
          </p:cNvSpPr>
          <p:nvPr/>
        </p:nvSpPr>
        <p:spPr>
          <a:xfrm xmlns:a="http://schemas.openxmlformats.org/drawingml/2006/main">
            <a:off x="4857750" y="3981450"/>
            <a:ext cx="2705100" cy="15049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Each clause gets an explanation, mitigation note, and any retrieved evidence. The report is serialized for the UI and also exported as PDF for submission.</a:t>
            </a:r>
          </a:p>
        </p:txBody>
      </p:sp>
      <p:sp>
        <p:nvSpPr>
          <p:cNvPr id="37" name="">
            <a:extLst xmlns:a="http://schemas.openxmlformats.org/drawingml/2006/main">
              <a:ext uri="{FF2B5EF4-FFF2-40B4-BE49-F238E27FC236}">
                <a16:creationId xmlns:a16="http://schemas.microsoft.com/office/drawing/2014/main" id="{33173556-5F62-4535-BE44-AC39B8AE94B1}"/>
              </a:ext>
            </a:extLst>
          </p:cNvPr>
          <p:cNvSpPr>
            <a:spLocks xmlns:a="http://schemas.openxmlformats.org/drawingml/2006/main" noGrp="1"/>
          </p:cNvSpPr>
          <p:nvPr/>
        </p:nvSpPr>
        <p:spPr>
          <a:xfrm xmlns:a="http://schemas.openxmlformats.org/drawingml/2006/main">
            <a:off x="7905750" y="3429000"/>
            <a:ext cx="32385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8E1EB"/>
            </a:solidFill>
          </a:ln>
        </p:spPr>
      </p:sp>
      <p:sp>
        <p:nvSpPr>
          <p:cNvPr id="38" name="">
            <a:extLst xmlns:a="http://schemas.openxmlformats.org/drawingml/2006/main">
              <a:ext uri="{FF2B5EF4-FFF2-40B4-BE49-F238E27FC236}">
                <a16:creationId xmlns:a16="http://schemas.microsoft.com/office/drawing/2014/main" id="{B478079C-B2F7-403E-AE02-AA252ABC6E87}"/>
              </a:ext>
            </a:extLst>
          </p:cNvPr>
          <p:cNvSpPr>
            <a:spLocks xmlns:a="http://schemas.openxmlformats.org/drawingml/2006/main" noGrp="1"/>
          </p:cNvSpPr>
          <p:nvPr/>
        </p:nvSpPr>
        <p:spPr>
          <a:xfrm xmlns:a="http://schemas.openxmlformats.org/drawingml/2006/main">
            <a:off x="8058150" y="3581400"/>
            <a:ext cx="114300" cy="1885950"/>
          </a:xfrm>
          <a:prstGeom xmlns:a="http://schemas.openxmlformats.org/drawingml/2006/main" prst="roundRect">
            <a:avLst>
              <a:gd name="adj" fmla="val 50000"/>
            </a:avLst>
          </a:prstGeom>
          <a:solidFill xmlns:a="http://schemas.openxmlformats.org/drawingml/2006/main">
            <a:srgbClr val="11263F"/>
          </a:solidFill>
          <a:ln xmlns:a="http://schemas.openxmlformats.org/drawingml/2006/main">
            <a:noFill/>
          </a:ln>
        </p:spPr>
      </p:sp>
      <p:sp>
        <p:nvSpPr>
          <p:cNvPr id="39" name="">
            <a:extLst xmlns:a="http://schemas.openxmlformats.org/drawingml/2006/main">
              <a:ext uri="{FF2B5EF4-FFF2-40B4-BE49-F238E27FC236}">
                <a16:creationId xmlns:a16="http://schemas.microsoft.com/office/drawing/2014/main" id="{EA572286-8EB1-4828-8B5B-26D4438A18BE}"/>
              </a:ext>
            </a:extLst>
          </p:cNvPr>
          <p:cNvSpPr>
            <a:spLocks xmlns:a="http://schemas.openxmlformats.org/drawingml/2006/main" noGrp="1"/>
          </p:cNvSpPr>
          <p:nvPr/>
        </p:nvSpPr>
        <p:spPr>
          <a:xfrm xmlns:a="http://schemas.openxmlformats.org/drawingml/2006/main">
            <a:off x="8286750" y="3600450"/>
            <a:ext cx="270510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Comparison and exports</a:t>
            </a:r>
          </a:p>
        </p:txBody>
      </p:sp>
      <p:sp>
        <p:nvSpPr>
          <p:cNvPr id="40" name="">
            <a:extLst xmlns:a="http://schemas.openxmlformats.org/drawingml/2006/main">
              <a:ext uri="{FF2B5EF4-FFF2-40B4-BE49-F238E27FC236}">
                <a16:creationId xmlns:a16="http://schemas.microsoft.com/office/drawing/2014/main" id="{2D79EE29-D8DB-42DE-B8FF-7BD4D4888D36}"/>
              </a:ext>
            </a:extLst>
          </p:cNvPr>
          <p:cNvSpPr>
            <a:spLocks xmlns:a="http://schemas.openxmlformats.org/drawingml/2006/main" noGrp="1"/>
          </p:cNvSpPr>
          <p:nvPr/>
        </p:nvSpPr>
        <p:spPr>
          <a:xfrm xmlns:a="http://schemas.openxmlformats.org/drawingml/2006/main">
            <a:off x="8286750" y="3981450"/>
            <a:ext cx="2705100" cy="15049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The app keeps the clause table filterable and exportable. Multi-contract comparison summarizes repeated patterns across uploaded files.</a:t>
            </a:r>
          </a:p>
        </p:txBody>
      </p:sp>
    </p:spTree>
    <p:extLst>
      <p:ext uri="{BB962C8B-B14F-4D97-AF65-F5344CB8AC3E}">
        <p14:creationId xmlns:p14="http://schemas.microsoft.com/office/powerpoint/2010/main" val="529376688"/>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1DC8211-31E6-422C-BAFD-AE1891C45EE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5AFABFCB-0C50-4163-86AD-12C060BBFFE5}"/>
              </a:ext>
            </a:extLst>
          </p:cNvPr>
          <p:cNvSpPr>
            <a:spLocks xmlns:a="http://schemas.openxmlformats.org/drawingml/2006/main" noGrp="1"/>
          </p:cNvSpPr>
          <p:nvPr/>
        </p:nvSpPr>
        <p:spPr>
          <a:xfrm xmlns:a="http://schemas.openxmlformats.org/drawingml/2006/main">
            <a:off x="666750" y="381000"/>
            <a:ext cx="9334500" cy="81915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2550" b="1">
                <a:solidFill>
                  <a:srgbClr val="152235"/>
                </a:solidFill>
              </a:defRPr>
            </a:pPr>
            <a:r>
              <a:rPr sz="2550" b="1">
                <a:solidFill>
                  <a:srgbClr val="152235"/>
                </a:solidFill>
              </a:rPr>
              <a:t>User flow and public deployment</a:t>
            </a:r>
          </a:p>
        </p:txBody>
      </p:sp>
      <p:sp>
        <p:nvSpPr>
          <p:cNvPr id="3" name="">
            <a:extLst xmlns:a="http://schemas.openxmlformats.org/drawingml/2006/main">
              <a:ext uri="{FF2B5EF4-FFF2-40B4-BE49-F238E27FC236}">
                <a16:creationId xmlns:a16="http://schemas.microsoft.com/office/drawing/2014/main" id="{84F97BA1-EF22-4187-9F1D-C2065F84A6F4}"/>
              </a:ext>
            </a:extLst>
          </p:cNvPr>
          <p:cNvSpPr>
            <a:spLocks xmlns:a="http://schemas.openxmlformats.org/drawingml/2006/main" noGrp="1"/>
          </p:cNvSpPr>
          <p:nvPr/>
        </p:nvSpPr>
        <p:spPr>
          <a:xfrm xmlns:a="http://schemas.openxmlformats.org/drawingml/2006/main">
            <a:off x="666750" y="1066800"/>
            <a:ext cx="9334500" cy="40005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The hosted app is submission-ready and uses a single clear entrypoint.</a:t>
            </a:r>
          </a:p>
        </p:txBody>
      </p:sp>
      <p:sp>
        <p:nvSpPr>
          <p:cNvPr id="4" name="">
            <a:extLst xmlns:a="http://schemas.openxmlformats.org/drawingml/2006/main">
              <a:ext uri="{FF2B5EF4-FFF2-40B4-BE49-F238E27FC236}">
                <a16:creationId xmlns:a16="http://schemas.microsoft.com/office/drawing/2014/main" id="{4ECB3347-6C9D-4598-9AE7-42DF596CDA1B}"/>
              </a:ext>
            </a:extLst>
          </p:cNvPr>
          <p:cNvSpPr>
            <a:spLocks xmlns:a="http://schemas.openxmlformats.org/drawingml/2006/main" noGrp="1"/>
          </p:cNvSpPr>
          <p:nvPr/>
        </p:nvSpPr>
        <p:spPr>
          <a:xfrm xmlns:a="http://schemas.openxmlformats.org/drawingml/2006/main">
            <a:off x="10858500" y="6381750"/>
            <a:ext cx="857250" cy="22860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r">
              <a:defRPr sz="975" b="1">
                <a:solidFill>
                  <a:srgbClr val="5F6D7F"/>
                </a:solidFill>
              </a:defRPr>
            </a:pPr>
            <a:r>
              <a:rPr sz="975" b="1">
                <a:solidFill>
                  <a:srgbClr val="5F6D7F"/>
                </a:solidFill>
              </a:rPr>
              <a:t>04</a:t>
            </a:r>
          </a:p>
        </p:txBody>
      </p:sp>
      <p:sp>
        <p:nvSpPr>
          <p:cNvPr id="5" name="">
            <a:extLst xmlns:a="http://schemas.openxmlformats.org/drawingml/2006/main">
              <a:ext uri="{FF2B5EF4-FFF2-40B4-BE49-F238E27FC236}">
                <a16:creationId xmlns:a16="http://schemas.microsoft.com/office/drawing/2014/main" id="{520E6C67-503C-4A30-A8CB-5465FA7B5818}"/>
              </a:ext>
            </a:extLst>
          </p:cNvPr>
          <p:cNvSpPr>
            <a:spLocks xmlns:a="http://schemas.openxmlformats.org/drawingml/2006/main" noGrp="1"/>
          </p:cNvSpPr>
          <p:nvPr/>
        </p:nvSpPr>
        <p:spPr>
          <a:xfrm xmlns:a="http://schemas.openxmlformats.org/drawingml/2006/main">
            <a:off x="666750" y="1809750"/>
            <a:ext cx="4000500" cy="3619500"/>
          </a:xfrm>
          <a:prstGeom xmlns:a="http://schemas.openxmlformats.org/drawingml/2006/main" prst="roundRect">
            <a:avLst>
              <a:gd name="adj" fmla="val 2105"/>
            </a:avLst>
          </a:prstGeom>
          <a:solidFill xmlns:a="http://schemas.openxmlformats.org/drawingml/2006/main">
            <a:srgbClr val="FFFFFF"/>
          </a:solidFill>
          <a:ln xmlns:a="http://schemas.openxmlformats.org/drawingml/2006/main" w="9525">
            <a:solidFill>
              <a:srgbClr val="D8E1EB"/>
            </a:solidFill>
          </a:ln>
        </p:spPr>
      </p:sp>
      <p:sp>
        <p:nvSpPr>
          <p:cNvPr id="6" name="">
            <a:extLst xmlns:a="http://schemas.openxmlformats.org/drawingml/2006/main">
              <a:ext uri="{FF2B5EF4-FFF2-40B4-BE49-F238E27FC236}">
                <a16:creationId xmlns:a16="http://schemas.microsoft.com/office/drawing/2014/main" id="{134CB969-BD12-4D46-8954-DD3B44D343D6}"/>
              </a:ext>
            </a:extLst>
          </p:cNvPr>
          <p:cNvSpPr>
            <a:spLocks xmlns:a="http://schemas.openxmlformats.org/drawingml/2006/main" noGrp="1"/>
          </p:cNvSpPr>
          <p:nvPr/>
        </p:nvSpPr>
        <p:spPr>
          <a:xfrm xmlns:a="http://schemas.openxmlformats.org/drawingml/2006/main">
            <a:off x="819150" y="1962150"/>
            <a:ext cx="114300" cy="3314700"/>
          </a:xfrm>
          <a:prstGeom xmlns:a="http://schemas.openxmlformats.org/drawingml/2006/main" prst="roundRect">
            <a:avLst>
              <a:gd name="adj" fmla="val 50000"/>
            </a:avLst>
          </a:prstGeom>
          <a:solidFill xmlns:a="http://schemas.openxmlformats.org/drawingml/2006/main">
            <a:srgbClr val="2DB7A3"/>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7EBFB7CA-8BF6-4763-AEB1-1B169206FF74}"/>
              </a:ext>
            </a:extLst>
          </p:cNvPr>
          <p:cNvSpPr>
            <a:spLocks xmlns:a="http://schemas.openxmlformats.org/drawingml/2006/main" noGrp="1"/>
          </p:cNvSpPr>
          <p:nvPr/>
        </p:nvSpPr>
        <p:spPr>
          <a:xfrm xmlns:a="http://schemas.openxmlformats.org/drawingml/2006/main">
            <a:off x="1047750" y="1981200"/>
            <a:ext cx="346710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How a user runs the app</a:t>
            </a:r>
          </a:p>
        </p:txBody>
      </p:sp>
      <p:sp>
        <p:nvSpPr>
          <p:cNvPr id="8" name="">
            <a:extLst xmlns:a="http://schemas.openxmlformats.org/drawingml/2006/main">
              <a:ext uri="{FF2B5EF4-FFF2-40B4-BE49-F238E27FC236}">
                <a16:creationId xmlns:a16="http://schemas.microsoft.com/office/drawing/2014/main" id="{B1B8C0FD-A785-43EE-8FAE-09D2E816A2BD}"/>
              </a:ext>
            </a:extLst>
          </p:cNvPr>
          <p:cNvSpPr>
            <a:spLocks xmlns:a="http://schemas.openxmlformats.org/drawingml/2006/main" noGrp="1"/>
          </p:cNvSpPr>
          <p:nvPr/>
        </p:nvSpPr>
        <p:spPr>
          <a:xfrm xmlns:a="http://schemas.openxmlformats.org/drawingml/2006/main">
            <a:off x="1047750" y="2362200"/>
            <a:ext cx="3467100" cy="29337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1. Open the hosted Streamlit app.</a:t>
            </a:r>
          </a:p>
          <a:p xmlns:a="http://schemas.openxmlformats.org/drawingml/2006/main">
            <a:pPr algn="l">
              <a:defRPr sz="1200" b="0">
                <a:solidFill>
                  <a:srgbClr val="5F6D7F"/>
                </a:solidFill>
              </a:defRPr>
            </a:pPr>
            <a:r>
              <a:rPr sz="1200" b="0">
                <a:solidFill>
                  <a:srgbClr val="5F6D7F"/>
                </a:solidFill>
              </a:rPr>
              <a:t>2. Upload a PDF or TXT contract, or use the demo contract.</a:t>
            </a:r>
          </a:p>
          <a:p xmlns:a="http://schemas.openxmlformats.org/drawingml/2006/main">
            <a:pPr algn="l">
              <a:defRPr sz="1200" b="0">
                <a:solidFill>
                  <a:srgbClr val="5F6D7F"/>
                </a:solidFill>
              </a:defRPr>
            </a:pPr>
            <a:r>
              <a:rPr sz="1200" b="0">
                <a:solidFill>
                  <a:srgbClr val="5F6D7F"/>
                </a:solidFill>
              </a:rPr>
              <a:t>3. Review clause predictions, filters, and highlights.</a:t>
            </a:r>
          </a:p>
          <a:p xmlns:a="http://schemas.openxmlformats.org/drawingml/2006/main">
            <a:pPr algn="l">
              <a:defRPr sz="1200" b="0">
                <a:solidFill>
                  <a:srgbClr val="5F6D7F"/>
                </a:solidFill>
              </a:defRPr>
            </a:pPr>
            <a:r>
              <a:rPr sz="1200" b="0">
                <a:solidFill>
                  <a:srgbClr val="5F6D7F"/>
                </a:solidFill>
              </a:rPr>
              <a:t>4. Generate the assistant report.</a:t>
            </a:r>
          </a:p>
          <a:p xmlns:a="http://schemas.openxmlformats.org/drawingml/2006/main">
            <a:pPr algn="l">
              <a:defRPr sz="1200" b="0">
                <a:solidFill>
                  <a:srgbClr val="5F6D7F"/>
                </a:solidFill>
              </a:defRPr>
            </a:pPr>
            <a:r>
              <a:rPr sz="1200" b="0">
                <a:solidFill>
                  <a:srgbClr val="5F6D7F"/>
                </a:solidFill>
              </a:rPr>
              <a:t>5. Download CSV, JSON, or PDF outputs.</a:t>
            </a:r>
          </a:p>
        </p:txBody>
      </p:sp>
      <p:sp>
        <p:nvSpPr>
          <p:cNvPr id="9" name="">
            <a:extLst xmlns:a="http://schemas.openxmlformats.org/drawingml/2006/main">
              <a:ext uri="{FF2B5EF4-FFF2-40B4-BE49-F238E27FC236}">
                <a16:creationId xmlns:a16="http://schemas.microsoft.com/office/drawing/2014/main" id="{3DC1B222-9648-4A7C-A0C8-96302F50A05B}"/>
              </a:ext>
            </a:extLst>
          </p:cNvPr>
          <p:cNvSpPr>
            <a:spLocks xmlns:a="http://schemas.openxmlformats.org/drawingml/2006/main" noGrp="1"/>
          </p:cNvSpPr>
          <p:nvPr/>
        </p:nvSpPr>
        <p:spPr>
          <a:xfrm xmlns:a="http://schemas.openxmlformats.org/drawingml/2006/main">
            <a:off x="5143500" y="1809750"/>
            <a:ext cx="6381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8E1EB"/>
            </a:solidFill>
          </a:ln>
        </p:spPr>
      </p:sp>
      <p:sp>
        <p:nvSpPr>
          <p:cNvPr id="10" name="">
            <a:extLst xmlns:a="http://schemas.openxmlformats.org/drawingml/2006/main">
              <a:ext uri="{FF2B5EF4-FFF2-40B4-BE49-F238E27FC236}">
                <a16:creationId xmlns:a16="http://schemas.microsoft.com/office/drawing/2014/main" id="{BFDFB961-941C-4BDE-B72D-F9855C9C9067}"/>
              </a:ext>
            </a:extLst>
          </p:cNvPr>
          <p:cNvSpPr>
            <a:spLocks xmlns:a="http://schemas.openxmlformats.org/drawingml/2006/main" noGrp="1"/>
          </p:cNvSpPr>
          <p:nvPr/>
        </p:nvSpPr>
        <p:spPr>
          <a:xfrm xmlns:a="http://schemas.openxmlformats.org/drawingml/2006/main">
            <a:off x="5295900" y="1962150"/>
            <a:ext cx="114300" cy="1409700"/>
          </a:xfrm>
          <a:prstGeom xmlns:a="http://schemas.openxmlformats.org/drawingml/2006/main" prst="roundRect">
            <a:avLst>
              <a:gd name="adj" fmla="val 50000"/>
            </a:avLst>
          </a:prstGeom>
          <a:solidFill xmlns:a="http://schemas.openxmlformats.org/drawingml/2006/main">
            <a:srgbClr val="F0B35D"/>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F62B110B-FB40-437D-8815-96249D40BCE3}"/>
              </a:ext>
            </a:extLst>
          </p:cNvPr>
          <p:cNvSpPr>
            <a:spLocks xmlns:a="http://schemas.openxmlformats.org/drawingml/2006/main" noGrp="1"/>
          </p:cNvSpPr>
          <p:nvPr/>
        </p:nvSpPr>
        <p:spPr>
          <a:xfrm xmlns:a="http://schemas.openxmlformats.org/drawingml/2006/main">
            <a:off x="5524500" y="1981200"/>
            <a:ext cx="584835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Host entrypoint</a:t>
            </a:r>
          </a:p>
        </p:txBody>
      </p:sp>
      <p:sp>
        <p:nvSpPr>
          <p:cNvPr id="12" name="">
            <a:extLst xmlns:a="http://schemas.openxmlformats.org/drawingml/2006/main">
              <a:ext uri="{FF2B5EF4-FFF2-40B4-BE49-F238E27FC236}">
                <a16:creationId xmlns:a16="http://schemas.microsoft.com/office/drawing/2014/main" id="{C1B6BBB1-DBDE-4203-BF45-CB6AFEF4CDBD}"/>
              </a:ext>
            </a:extLst>
          </p:cNvPr>
          <p:cNvSpPr>
            <a:spLocks xmlns:a="http://schemas.openxmlformats.org/drawingml/2006/main" noGrp="1"/>
          </p:cNvSpPr>
          <p:nvPr/>
        </p:nvSpPr>
        <p:spPr>
          <a:xfrm xmlns:a="http://schemas.openxmlformats.org/drawingml/2006/main">
            <a:off x="5524500" y="2362200"/>
            <a:ext cx="5848350" cy="10287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streamlit_app.py is the recommended public entrypoint. It is paired with .streamlit/config.toml, Procfile, and render.yaml so the deployment path stays simple across Streamlit Cloud, Hugging Face Spaces, and Render.</a:t>
            </a:r>
          </a:p>
        </p:txBody>
      </p:sp>
      <p:sp>
        <p:nvSpPr>
          <p:cNvPr id="13" name="">
            <a:extLst xmlns:a="http://schemas.openxmlformats.org/drawingml/2006/main">
              <a:ext uri="{FF2B5EF4-FFF2-40B4-BE49-F238E27FC236}">
                <a16:creationId xmlns:a16="http://schemas.microsoft.com/office/drawing/2014/main" id="{DEB85D32-43A1-48C9-BD44-751706EEFF33}"/>
              </a:ext>
            </a:extLst>
          </p:cNvPr>
          <p:cNvSpPr>
            <a:spLocks xmlns:a="http://schemas.openxmlformats.org/drawingml/2006/main" noGrp="1"/>
          </p:cNvSpPr>
          <p:nvPr/>
        </p:nvSpPr>
        <p:spPr>
          <a:xfrm xmlns:a="http://schemas.openxmlformats.org/drawingml/2006/main">
            <a:off x="5143500" y="3714750"/>
            <a:ext cx="6381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8E1EB"/>
            </a:solidFill>
          </a:ln>
        </p:spPr>
      </p:sp>
      <p:sp>
        <p:nvSpPr>
          <p:cNvPr id="14" name="">
            <a:extLst xmlns:a="http://schemas.openxmlformats.org/drawingml/2006/main">
              <a:ext uri="{FF2B5EF4-FFF2-40B4-BE49-F238E27FC236}">
                <a16:creationId xmlns:a16="http://schemas.microsoft.com/office/drawing/2014/main" id="{406AA22D-0B7B-437D-9C57-B7F899709563}"/>
              </a:ext>
            </a:extLst>
          </p:cNvPr>
          <p:cNvSpPr>
            <a:spLocks xmlns:a="http://schemas.openxmlformats.org/drawingml/2006/main" noGrp="1"/>
          </p:cNvSpPr>
          <p:nvPr/>
        </p:nvSpPr>
        <p:spPr>
          <a:xfrm xmlns:a="http://schemas.openxmlformats.org/drawingml/2006/main">
            <a:off x="5295900" y="3867150"/>
            <a:ext cx="114300" cy="1409700"/>
          </a:xfrm>
          <a:prstGeom xmlns:a="http://schemas.openxmlformats.org/drawingml/2006/main" prst="roundRect">
            <a:avLst>
              <a:gd name="adj" fmla="val 50000"/>
            </a:avLst>
          </a:prstGeom>
          <a:solidFill xmlns:a="http://schemas.openxmlformats.org/drawingml/2006/main">
            <a:srgbClr val="11263F"/>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2A7C2E93-CA1B-4499-A19F-0A898D440EA8}"/>
              </a:ext>
            </a:extLst>
          </p:cNvPr>
          <p:cNvSpPr>
            <a:spLocks xmlns:a="http://schemas.openxmlformats.org/drawingml/2006/main" noGrp="1"/>
          </p:cNvSpPr>
          <p:nvPr/>
        </p:nvSpPr>
        <p:spPr>
          <a:xfrm xmlns:a="http://schemas.openxmlformats.org/drawingml/2006/main">
            <a:off x="5524500" y="3886200"/>
            <a:ext cx="584835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Deployment-safe configuration</a:t>
            </a:r>
          </a:p>
        </p:txBody>
      </p:sp>
      <p:sp>
        <p:nvSpPr>
          <p:cNvPr id="16" name="">
            <a:extLst xmlns:a="http://schemas.openxmlformats.org/drawingml/2006/main">
              <a:ext uri="{FF2B5EF4-FFF2-40B4-BE49-F238E27FC236}">
                <a16:creationId xmlns:a16="http://schemas.microsoft.com/office/drawing/2014/main" id="{A2DB5040-02DE-4880-9A2C-5F651D9A2089}"/>
              </a:ext>
            </a:extLst>
          </p:cNvPr>
          <p:cNvSpPr>
            <a:spLocks xmlns:a="http://schemas.openxmlformats.org/drawingml/2006/main" noGrp="1"/>
          </p:cNvSpPr>
          <p:nvPr/>
        </p:nvSpPr>
        <p:spPr>
          <a:xfrm xmlns:a="http://schemas.openxmlformats.org/drawingml/2006/main">
            <a:off x="5524500" y="4267200"/>
            <a:ext cx="5848350" cy="10287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Environment variables can override the model path, reports directory, and fallback training CSV. If a hosted filesystem blocks persistence, the model still loads and the app continues instead of failing on save.</a:t>
            </a:r>
          </a:p>
        </p:txBody>
      </p:sp>
      <p:sp>
        <p:nvSpPr>
          <p:cNvPr id="17" name="">
            <a:extLst xmlns:a="http://schemas.openxmlformats.org/drawingml/2006/main">
              <a:ext uri="{FF2B5EF4-FFF2-40B4-BE49-F238E27FC236}">
                <a16:creationId xmlns:a16="http://schemas.microsoft.com/office/drawing/2014/main" id="{845BB0AF-01FA-4A38-A79C-88F96FE38AB5}"/>
              </a:ext>
            </a:extLst>
          </p:cNvPr>
          <p:cNvSpPr>
            <a:spLocks xmlns:a="http://schemas.openxmlformats.org/drawingml/2006/main" noGrp="1"/>
          </p:cNvSpPr>
          <p:nvPr/>
        </p:nvSpPr>
        <p:spPr>
          <a:xfrm xmlns:a="http://schemas.openxmlformats.org/drawingml/2006/main">
            <a:off x="5334000" y="5695950"/>
            <a:ext cx="2000250" cy="323850"/>
          </a:xfrm>
          <a:prstGeom xmlns:a="http://schemas.openxmlformats.org/drawingml/2006/main" prst="roundRect">
            <a:avLst>
              <a:gd name="adj" fmla="val 23529"/>
            </a:avLst>
          </a:prstGeom>
          <a:solidFill xmlns:a="http://schemas.openxmlformats.org/drawingml/2006/main">
            <a:srgbClr val="D9F5EF"/>
          </a:solidFill>
          <a:ln xmlns:a="http://schemas.openxmlformats.org/drawingml/2006/main">
            <a:noFill/>
          </a:ln>
        </p:spPr>
      </p:sp>
      <p:sp>
        <p:nvSpPr>
          <p:cNvPr id="18" name="">
            <a:extLst xmlns:a="http://schemas.openxmlformats.org/drawingml/2006/main">
              <a:ext uri="{FF2B5EF4-FFF2-40B4-BE49-F238E27FC236}">
                <a16:creationId xmlns:a16="http://schemas.microsoft.com/office/drawing/2014/main" id="{51BE61F3-6DC5-4BCF-9B7B-41E1DEC4D595}"/>
              </a:ext>
            </a:extLst>
          </p:cNvPr>
          <p:cNvSpPr>
            <a:spLocks xmlns:a="http://schemas.openxmlformats.org/drawingml/2006/main" noGrp="1"/>
          </p:cNvSpPr>
          <p:nvPr/>
        </p:nvSpPr>
        <p:spPr>
          <a:xfrm xmlns:a="http://schemas.openxmlformats.org/drawingml/2006/main">
            <a:off x="5448300" y="5753100"/>
            <a:ext cx="1771650" cy="209550"/>
          </a:xfrm>
          <a:prstGeom xmlns:a="http://schemas.openxmlformats.org/drawingml/2006/main" prst="rect">
            <a:avLst/>
          </a:prstGeom>
          <a:solidFill xmlns:a="http://schemas.openxmlformats.org/drawingml/2006/main">
            <a:srgbClr val="D9F5E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050" b="1">
                <a:solidFill>
                  <a:srgbClr val="152235"/>
                </a:solidFill>
              </a:defRPr>
            </a:pPr>
            <a:r>
              <a:rPr sz="1050" b="1">
                <a:solidFill>
                  <a:srgbClr val="152235"/>
                </a:solidFill>
              </a:rPr>
              <a:t>streamlit run streamlit_app.py</a:t>
            </a:r>
          </a:p>
        </p:txBody>
      </p:sp>
      <p:sp>
        <p:nvSpPr>
          <p:cNvPr id="19" name="">
            <a:extLst xmlns:a="http://schemas.openxmlformats.org/drawingml/2006/main">
              <a:ext uri="{FF2B5EF4-FFF2-40B4-BE49-F238E27FC236}">
                <a16:creationId xmlns:a16="http://schemas.microsoft.com/office/drawing/2014/main" id="{AB305A3E-9CA4-488D-9DBB-D17B2B8D7296}"/>
              </a:ext>
            </a:extLst>
          </p:cNvPr>
          <p:cNvSpPr>
            <a:spLocks xmlns:a="http://schemas.openxmlformats.org/drawingml/2006/main" noGrp="1"/>
          </p:cNvSpPr>
          <p:nvPr/>
        </p:nvSpPr>
        <p:spPr>
          <a:xfrm xmlns:a="http://schemas.openxmlformats.org/drawingml/2006/main">
            <a:off x="7524750" y="5695950"/>
            <a:ext cx="1714500" cy="323850"/>
          </a:xfrm>
          <a:prstGeom xmlns:a="http://schemas.openxmlformats.org/drawingml/2006/main" prst="roundRect">
            <a:avLst>
              <a:gd name="adj" fmla="val 23529"/>
            </a:avLst>
          </a:prstGeom>
          <a:solidFill xmlns:a="http://schemas.openxmlformats.org/drawingml/2006/main">
            <a:srgbClr val="FFF2DD"/>
          </a:solidFill>
          <a:ln xmlns:a="http://schemas.openxmlformats.org/drawingml/2006/main">
            <a:noFill/>
          </a:ln>
        </p:spPr>
      </p:sp>
      <p:sp>
        <p:nvSpPr>
          <p:cNvPr id="20" name="">
            <a:extLst xmlns:a="http://schemas.openxmlformats.org/drawingml/2006/main">
              <a:ext uri="{FF2B5EF4-FFF2-40B4-BE49-F238E27FC236}">
                <a16:creationId xmlns:a16="http://schemas.microsoft.com/office/drawing/2014/main" id="{10DB6538-F530-488C-8B73-15C5C0319119}"/>
              </a:ext>
            </a:extLst>
          </p:cNvPr>
          <p:cNvSpPr>
            <a:spLocks xmlns:a="http://schemas.openxmlformats.org/drawingml/2006/main" noGrp="1"/>
          </p:cNvSpPr>
          <p:nvPr/>
        </p:nvSpPr>
        <p:spPr>
          <a:xfrm xmlns:a="http://schemas.openxmlformats.org/drawingml/2006/main">
            <a:off x="7639050" y="5753100"/>
            <a:ext cx="1485900" cy="209550"/>
          </a:xfrm>
          <a:prstGeom xmlns:a="http://schemas.openxmlformats.org/drawingml/2006/main" prst="rect">
            <a:avLst/>
          </a:prstGeom>
          <a:solidFill xmlns:a="http://schemas.openxmlformats.org/drawingml/2006/main">
            <a:srgbClr val="FFF2DD"/>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050" b="1">
                <a:solidFill>
                  <a:srgbClr val="152235"/>
                </a:solidFill>
              </a:defRPr>
            </a:pPr>
            <a:r>
              <a:rPr sz="1050" b="1">
                <a:solidFill>
                  <a:srgbClr val="152235"/>
                </a:solidFill>
              </a:rPr>
              <a:t>Render start command</a:t>
            </a:r>
          </a:p>
        </p:txBody>
      </p:sp>
      <p:sp>
        <p:nvSpPr>
          <p:cNvPr id="21" name="">
            <a:extLst xmlns:a="http://schemas.openxmlformats.org/drawingml/2006/main">
              <a:ext uri="{FF2B5EF4-FFF2-40B4-BE49-F238E27FC236}">
                <a16:creationId xmlns:a16="http://schemas.microsoft.com/office/drawing/2014/main" id="{486239FA-B5BE-47A9-8CEB-F2A703698550}"/>
              </a:ext>
            </a:extLst>
          </p:cNvPr>
          <p:cNvSpPr>
            <a:spLocks xmlns:a="http://schemas.openxmlformats.org/drawingml/2006/main" noGrp="1"/>
          </p:cNvSpPr>
          <p:nvPr/>
        </p:nvSpPr>
        <p:spPr>
          <a:xfrm xmlns:a="http://schemas.openxmlformats.org/drawingml/2006/main">
            <a:off x="9448800" y="5695950"/>
            <a:ext cx="1714500" cy="323850"/>
          </a:xfrm>
          <a:prstGeom xmlns:a="http://schemas.openxmlformats.org/drawingml/2006/main" prst="roundRect">
            <a:avLst>
              <a:gd name="adj" fmla="val 23529"/>
            </a:avLst>
          </a:prstGeom>
          <a:solidFill xmlns:a="http://schemas.openxmlformats.org/drawingml/2006/main">
            <a:srgbClr val="E8EFFB"/>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0BA19D50-C56A-4323-A385-6026AC240187}"/>
              </a:ext>
            </a:extLst>
          </p:cNvPr>
          <p:cNvSpPr>
            <a:spLocks xmlns:a="http://schemas.openxmlformats.org/drawingml/2006/main" noGrp="1"/>
          </p:cNvSpPr>
          <p:nvPr/>
        </p:nvSpPr>
        <p:spPr>
          <a:xfrm xmlns:a="http://schemas.openxmlformats.org/drawingml/2006/main">
            <a:off x="9563100" y="5753100"/>
            <a:ext cx="1485900" cy="209550"/>
          </a:xfrm>
          <a:prstGeom xmlns:a="http://schemas.openxmlformats.org/drawingml/2006/main" prst="rect">
            <a:avLst/>
          </a:prstGeom>
          <a:solidFill xmlns:a="http://schemas.openxmlformats.org/drawingml/2006/main">
            <a:srgbClr val="E8EF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050" b="1">
                <a:solidFill>
                  <a:srgbClr val="152235"/>
                </a:solidFill>
              </a:defRPr>
            </a:pPr>
            <a:r>
              <a:rPr sz="1050" b="1">
                <a:solidFill>
                  <a:srgbClr val="152235"/>
                </a:solidFill>
              </a:rPr>
              <a:t>HF Spaces Streamlit SDK</a:t>
            </a:r>
          </a:p>
        </p:txBody>
      </p:sp>
    </p:spTree>
    <p:extLst>
      <p:ext uri="{BB962C8B-B14F-4D97-AF65-F5344CB8AC3E}">
        <p14:creationId xmlns:p14="http://schemas.microsoft.com/office/powerpoint/2010/main" val="1895436146"/>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1DC8211-31E6-422C-BAFD-AE1891C45EE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F904361E-49D8-4D42-AC75-C9EF0160FB3A}"/>
              </a:ext>
            </a:extLst>
          </p:cNvPr>
          <p:cNvSpPr>
            <a:spLocks xmlns:a="http://schemas.openxmlformats.org/drawingml/2006/main" noGrp="1"/>
          </p:cNvSpPr>
          <p:nvPr/>
        </p:nvSpPr>
        <p:spPr>
          <a:xfrm xmlns:a="http://schemas.openxmlformats.org/drawingml/2006/main">
            <a:off x="666750" y="381000"/>
            <a:ext cx="9334500" cy="81915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2550" b="1">
                <a:solidFill>
                  <a:srgbClr val="152235"/>
                </a:solidFill>
              </a:defRPr>
            </a:pPr>
            <a:r>
              <a:rPr sz="2550" b="1">
                <a:solidFill>
                  <a:srgbClr val="152235"/>
                </a:solidFill>
              </a:rPr>
              <a:t>Evaluation and artifacts</a:t>
            </a:r>
          </a:p>
        </p:txBody>
      </p:sp>
      <p:sp>
        <p:nvSpPr>
          <p:cNvPr id="3" name="">
            <a:extLst xmlns:a="http://schemas.openxmlformats.org/drawingml/2006/main">
              <a:ext uri="{FF2B5EF4-FFF2-40B4-BE49-F238E27FC236}">
                <a16:creationId xmlns:a16="http://schemas.microsoft.com/office/drawing/2014/main" id="{F9C09627-DE38-4CE3-A8A9-015EEA2C5BFA}"/>
              </a:ext>
            </a:extLst>
          </p:cNvPr>
          <p:cNvSpPr>
            <a:spLocks xmlns:a="http://schemas.openxmlformats.org/drawingml/2006/main" noGrp="1"/>
          </p:cNvSpPr>
          <p:nvPr/>
        </p:nvSpPr>
        <p:spPr>
          <a:xfrm xmlns:a="http://schemas.openxmlformats.org/drawingml/2006/main">
            <a:off x="666750" y="1066800"/>
            <a:ext cx="9334500" cy="40005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The release includes repeatable evaluation outputs and a saved confusion matrix for the baseline model.</a:t>
            </a:r>
          </a:p>
        </p:txBody>
      </p:sp>
      <p:sp>
        <p:nvSpPr>
          <p:cNvPr id="4" name="">
            <a:extLst xmlns:a="http://schemas.openxmlformats.org/drawingml/2006/main">
              <a:ext uri="{FF2B5EF4-FFF2-40B4-BE49-F238E27FC236}">
                <a16:creationId xmlns:a16="http://schemas.microsoft.com/office/drawing/2014/main" id="{F52EFAD8-BBA1-435A-80F6-1570F6DD3B65}"/>
              </a:ext>
            </a:extLst>
          </p:cNvPr>
          <p:cNvSpPr>
            <a:spLocks xmlns:a="http://schemas.openxmlformats.org/drawingml/2006/main" noGrp="1"/>
          </p:cNvSpPr>
          <p:nvPr/>
        </p:nvSpPr>
        <p:spPr>
          <a:xfrm xmlns:a="http://schemas.openxmlformats.org/drawingml/2006/main">
            <a:off x="10858500" y="6381750"/>
            <a:ext cx="857250" cy="22860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r">
              <a:defRPr sz="975" b="1">
                <a:solidFill>
                  <a:srgbClr val="5F6D7F"/>
                </a:solidFill>
              </a:defRPr>
            </a:pPr>
            <a:r>
              <a:rPr sz="975" b="1">
                <a:solidFill>
                  <a:srgbClr val="5F6D7F"/>
                </a:solidFill>
              </a:rPr>
              <a:t>05</a:t>
            </a:r>
          </a:p>
        </p:txBody>
      </p:sp>
      <p:sp>
        <p:nvSpPr>
          <p:cNvPr id="5" name="">
            <a:extLst xmlns:a="http://schemas.openxmlformats.org/drawingml/2006/main">
              <a:ext uri="{FF2B5EF4-FFF2-40B4-BE49-F238E27FC236}">
                <a16:creationId xmlns:a16="http://schemas.microsoft.com/office/drawing/2014/main" id="{5E800BBF-7E8B-4E44-91E9-D8CD2D55D1DE}"/>
              </a:ext>
            </a:extLst>
          </p:cNvPr>
          <p:cNvSpPr>
            <a:spLocks xmlns:a="http://schemas.openxmlformats.org/drawingml/2006/main" noGrp="1"/>
          </p:cNvSpPr>
          <p:nvPr/>
        </p:nvSpPr>
        <p:spPr>
          <a:xfrm xmlns:a="http://schemas.openxmlformats.org/drawingml/2006/main">
            <a:off x="666750" y="1809750"/>
            <a:ext cx="2000250" cy="1123950"/>
          </a:xfrm>
          <a:prstGeom xmlns:a="http://schemas.openxmlformats.org/drawingml/2006/main" prst="roundRect">
            <a:avLst>
              <a:gd name="adj" fmla="val 6780"/>
            </a:avLst>
          </a:prstGeom>
          <a:solidFill xmlns:a="http://schemas.openxmlformats.org/drawingml/2006/main">
            <a:srgbClr val="D9F5EF"/>
          </a:solidFill>
          <a:ln xmlns:a="http://schemas.openxmlformats.org/drawingml/2006/main" w="9525">
            <a:noFill/>
          </a:ln>
        </p:spPr>
      </p:sp>
      <p:sp>
        <p:nvSpPr>
          <p:cNvPr id="6" name="">
            <a:extLst xmlns:a="http://schemas.openxmlformats.org/drawingml/2006/main">
              <a:ext uri="{FF2B5EF4-FFF2-40B4-BE49-F238E27FC236}">
                <a16:creationId xmlns:a16="http://schemas.microsoft.com/office/drawing/2014/main" id="{27C9077A-3CE5-4C8F-AD15-34CC114EC624}"/>
              </a:ext>
            </a:extLst>
          </p:cNvPr>
          <p:cNvSpPr>
            <a:spLocks xmlns:a="http://schemas.openxmlformats.org/drawingml/2006/main" noGrp="1"/>
          </p:cNvSpPr>
          <p:nvPr/>
        </p:nvSpPr>
        <p:spPr>
          <a:xfrm xmlns:a="http://schemas.openxmlformats.org/drawingml/2006/main">
            <a:off x="857250" y="1962150"/>
            <a:ext cx="1619250" cy="533400"/>
          </a:xfrm>
          <a:prstGeom xmlns:a="http://schemas.openxmlformats.org/drawingml/2006/main" prst="rect">
            <a:avLst/>
          </a:prstGeom>
          <a:solidFill xmlns:a="http://schemas.openxmlformats.org/drawingml/2006/main">
            <a:srgbClr val="D9F5E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2550" b="1">
                <a:solidFill>
                  <a:srgbClr val="152235"/>
                </a:solidFill>
              </a:defRPr>
            </a:pPr>
            <a:r>
              <a:rPr sz="2550" b="1">
                <a:solidFill>
                  <a:srgbClr val="152235"/>
                </a:solidFill>
              </a:rPr>
              <a:t>1.0</a:t>
            </a:r>
          </a:p>
        </p:txBody>
      </p:sp>
      <p:sp>
        <p:nvSpPr>
          <p:cNvPr id="7" name="">
            <a:extLst xmlns:a="http://schemas.openxmlformats.org/drawingml/2006/main">
              <a:ext uri="{FF2B5EF4-FFF2-40B4-BE49-F238E27FC236}">
                <a16:creationId xmlns:a16="http://schemas.microsoft.com/office/drawing/2014/main" id="{905240A2-DA1F-4D01-8502-EE95D888AA06}"/>
              </a:ext>
            </a:extLst>
          </p:cNvPr>
          <p:cNvSpPr>
            <a:spLocks xmlns:a="http://schemas.openxmlformats.org/drawingml/2006/main" noGrp="1"/>
          </p:cNvSpPr>
          <p:nvPr/>
        </p:nvSpPr>
        <p:spPr>
          <a:xfrm xmlns:a="http://schemas.openxmlformats.org/drawingml/2006/main">
            <a:off x="819150" y="2514600"/>
            <a:ext cx="1695450" cy="457200"/>
          </a:xfrm>
          <a:prstGeom xmlns:a="http://schemas.openxmlformats.org/drawingml/2006/main" prst="rect">
            <a:avLst/>
          </a:prstGeom>
          <a:solidFill xmlns:a="http://schemas.openxmlformats.org/drawingml/2006/main">
            <a:srgbClr val="D9F5E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200" b="1">
                <a:solidFill>
                  <a:srgbClr val="5F6D7F"/>
                </a:solidFill>
              </a:defRPr>
            </a:pPr>
            <a:r>
              <a:rPr sz="1200" b="1">
                <a:solidFill>
                  <a:srgbClr val="5F6D7F"/>
                </a:solidFill>
              </a:rPr>
              <a:t>Weighted precision</a:t>
            </a:r>
          </a:p>
        </p:txBody>
      </p:sp>
      <p:sp>
        <p:nvSpPr>
          <p:cNvPr id="8" name="">
            <a:extLst xmlns:a="http://schemas.openxmlformats.org/drawingml/2006/main">
              <a:ext uri="{FF2B5EF4-FFF2-40B4-BE49-F238E27FC236}">
                <a16:creationId xmlns:a16="http://schemas.microsoft.com/office/drawing/2014/main" id="{90B0D321-1F8C-459B-9DAC-3841C861D353}"/>
              </a:ext>
            </a:extLst>
          </p:cNvPr>
          <p:cNvSpPr>
            <a:spLocks xmlns:a="http://schemas.openxmlformats.org/drawingml/2006/main" noGrp="1"/>
          </p:cNvSpPr>
          <p:nvPr/>
        </p:nvSpPr>
        <p:spPr>
          <a:xfrm xmlns:a="http://schemas.openxmlformats.org/drawingml/2006/main">
            <a:off x="2819400" y="1809750"/>
            <a:ext cx="2000250" cy="1123950"/>
          </a:xfrm>
          <a:prstGeom xmlns:a="http://schemas.openxmlformats.org/drawingml/2006/main" prst="roundRect">
            <a:avLst>
              <a:gd name="adj" fmla="val 6780"/>
            </a:avLst>
          </a:prstGeom>
          <a:solidFill xmlns:a="http://schemas.openxmlformats.org/drawingml/2006/main">
            <a:srgbClr val="FFF2DD"/>
          </a:solidFill>
          <a:ln xmlns:a="http://schemas.openxmlformats.org/drawingml/2006/main" w="9525">
            <a:noFill/>
          </a:ln>
        </p:spPr>
      </p:sp>
      <p:sp>
        <p:nvSpPr>
          <p:cNvPr id="9" name="">
            <a:extLst xmlns:a="http://schemas.openxmlformats.org/drawingml/2006/main">
              <a:ext uri="{FF2B5EF4-FFF2-40B4-BE49-F238E27FC236}">
                <a16:creationId xmlns:a16="http://schemas.microsoft.com/office/drawing/2014/main" id="{2FE1883F-4472-499B-BAFB-B9ADAB5F076B}"/>
              </a:ext>
            </a:extLst>
          </p:cNvPr>
          <p:cNvSpPr>
            <a:spLocks xmlns:a="http://schemas.openxmlformats.org/drawingml/2006/main" noGrp="1"/>
          </p:cNvSpPr>
          <p:nvPr/>
        </p:nvSpPr>
        <p:spPr>
          <a:xfrm xmlns:a="http://schemas.openxmlformats.org/drawingml/2006/main">
            <a:off x="3009900" y="1962150"/>
            <a:ext cx="1619250" cy="533400"/>
          </a:xfrm>
          <a:prstGeom xmlns:a="http://schemas.openxmlformats.org/drawingml/2006/main" prst="rect">
            <a:avLst/>
          </a:prstGeom>
          <a:solidFill xmlns:a="http://schemas.openxmlformats.org/drawingml/2006/main">
            <a:srgbClr val="FFF2DD"/>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2550" b="1">
                <a:solidFill>
                  <a:srgbClr val="152235"/>
                </a:solidFill>
              </a:defRPr>
            </a:pPr>
            <a:r>
              <a:rPr sz="2550" b="1">
                <a:solidFill>
                  <a:srgbClr val="152235"/>
                </a:solidFill>
              </a:rPr>
              <a:t>1.0</a:t>
            </a:r>
          </a:p>
        </p:txBody>
      </p:sp>
      <p:sp>
        <p:nvSpPr>
          <p:cNvPr id="10" name="">
            <a:extLst xmlns:a="http://schemas.openxmlformats.org/drawingml/2006/main">
              <a:ext uri="{FF2B5EF4-FFF2-40B4-BE49-F238E27FC236}">
                <a16:creationId xmlns:a16="http://schemas.microsoft.com/office/drawing/2014/main" id="{541765DE-4EAE-4118-89E1-062C6A442579}"/>
              </a:ext>
            </a:extLst>
          </p:cNvPr>
          <p:cNvSpPr>
            <a:spLocks xmlns:a="http://schemas.openxmlformats.org/drawingml/2006/main" noGrp="1"/>
          </p:cNvSpPr>
          <p:nvPr/>
        </p:nvSpPr>
        <p:spPr>
          <a:xfrm xmlns:a="http://schemas.openxmlformats.org/drawingml/2006/main">
            <a:off x="2971800" y="2514600"/>
            <a:ext cx="1695450" cy="457200"/>
          </a:xfrm>
          <a:prstGeom xmlns:a="http://schemas.openxmlformats.org/drawingml/2006/main" prst="rect">
            <a:avLst/>
          </a:prstGeom>
          <a:solidFill xmlns:a="http://schemas.openxmlformats.org/drawingml/2006/main">
            <a:srgbClr val="FFF2DD"/>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200" b="1">
                <a:solidFill>
                  <a:srgbClr val="5F6D7F"/>
                </a:solidFill>
              </a:defRPr>
            </a:pPr>
            <a:r>
              <a:rPr sz="1200" b="1">
                <a:solidFill>
                  <a:srgbClr val="5F6D7F"/>
                </a:solidFill>
              </a:rPr>
              <a:t>Weighted recall</a:t>
            </a:r>
          </a:p>
        </p:txBody>
      </p:sp>
      <p:sp>
        <p:nvSpPr>
          <p:cNvPr id="11" name="">
            <a:extLst xmlns:a="http://schemas.openxmlformats.org/drawingml/2006/main">
              <a:ext uri="{FF2B5EF4-FFF2-40B4-BE49-F238E27FC236}">
                <a16:creationId xmlns:a16="http://schemas.microsoft.com/office/drawing/2014/main" id="{0033D5D9-4D03-48FD-B4FD-C4A4B4731587}"/>
              </a:ext>
            </a:extLst>
          </p:cNvPr>
          <p:cNvSpPr>
            <a:spLocks xmlns:a="http://schemas.openxmlformats.org/drawingml/2006/main" noGrp="1"/>
          </p:cNvSpPr>
          <p:nvPr/>
        </p:nvSpPr>
        <p:spPr>
          <a:xfrm xmlns:a="http://schemas.openxmlformats.org/drawingml/2006/main">
            <a:off x="4972050" y="1809750"/>
            <a:ext cx="2000250" cy="1123950"/>
          </a:xfrm>
          <a:prstGeom xmlns:a="http://schemas.openxmlformats.org/drawingml/2006/main" prst="roundRect">
            <a:avLst>
              <a:gd name="adj" fmla="val 6780"/>
            </a:avLst>
          </a:prstGeom>
          <a:solidFill xmlns:a="http://schemas.openxmlformats.org/drawingml/2006/main">
            <a:srgbClr val="E8EFFB"/>
          </a:solidFill>
          <a:ln xmlns:a="http://schemas.openxmlformats.org/drawingml/2006/main" w="9525">
            <a:noFill/>
          </a:ln>
        </p:spPr>
      </p:sp>
      <p:sp>
        <p:nvSpPr>
          <p:cNvPr id="12" name="">
            <a:extLst xmlns:a="http://schemas.openxmlformats.org/drawingml/2006/main">
              <a:ext uri="{FF2B5EF4-FFF2-40B4-BE49-F238E27FC236}">
                <a16:creationId xmlns:a16="http://schemas.microsoft.com/office/drawing/2014/main" id="{05564831-E6FB-48BB-8036-7ABA8348D002}"/>
              </a:ext>
            </a:extLst>
          </p:cNvPr>
          <p:cNvSpPr>
            <a:spLocks xmlns:a="http://schemas.openxmlformats.org/drawingml/2006/main" noGrp="1"/>
          </p:cNvSpPr>
          <p:nvPr/>
        </p:nvSpPr>
        <p:spPr>
          <a:xfrm xmlns:a="http://schemas.openxmlformats.org/drawingml/2006/main">
            <a:off x="5162550" y="1962150"/>
            <a:ext cx="1619250" cy="533400"/>
          </a:xfrm>
          <a:prstGeom xmlns:a="http://schemas.openxmlformats.org/drawingml/2006/main" prst="rect">
            <a:avLst/>
          </a:prstGeom>
          <a:solidFill xmlns:a="http://schemas.openxmlformats.org/drawingml/2006/main">
            <a:srgbClr val="E8EF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2550" b="1">
                <a:solidFill>
                  <a:srgbClr val="152235"/>
                </a:solidFill>
              </a:defRPr>
            </a:pPr>
            <a:r>
              <a:rPr sz="2550" b="1">
                <a:solidFill>
                  <a:srgbClr val="152235"/>
                </a:solidFill>
              </a:rPr>
              <a:t>1.0</a:t>
            </a:r>
          </a:p>
        </p:txBody>
      </p:sp>
      <p:sp>
        <p:nvSpPr>
          <p:cNvPr id="13" name="">
            <a:extLst xmlns:a="http://schemas.openxmlformats.org/drawingml/2006/main">
              <a:ext uri="{FF2B5EF4-FFF2-40B4-BE49-F238E27FC236}">
                <a16:creationId xmlns:a16="http://schemas.microsoft.com/office/drawing/2014/main" id="{31391F07-9AD5-4028-8328-417D0844B94F}"/>
              </a:ext>
            </a:extLst>
          </p:cNvPr>
          <p:cNvSpPr>
            <a:spLocks xmlns:a="http://schemas.openxmlformats.org/drawingml/2006/main" noGrp="1"/>
          </p:cNvSpPr>
          <p:nvPr/>
        </p:nvSpPr>
        <p:spPr>
          <a:xfrm xmlns:a="http://schemas.openxmlformats.org/drawingml/2006/main">
            <a:off x="5124450" y="2514600"/>
            <a:ext cx="1695450" cy="457200"/>
          </a:xfrm>
          <a:prstGeom xmlns:a="http://schemas.openxmlformats.org/drawingml/2006/main" prst="rect">
            <a:avLst/>
          </a:prstGeom>
          <a:solidFill xmlns:a="http://schemas.openxmlformats.org/drawingml/2006/main">
            <a:srgbClr val="E8EF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200" b="1">
                <a:solidFill>
                  <a:srgbClr val="5F6D7F"/>
                </a:solidFill>
              </a:defRPr>
            </a:pPr>
            <a:r>
              <a:rPr sz="1200" b="1">
                <a:solidFill>
                  <a:srgbClr val="5F6D7F"/>
                </a:solidFill>
              </a:rPr>
              <a:t>Weighted F1</a:t>
            </a:r>
          </a:p>
        </p:txBody>
      </p:sp>
      <p:sp>
        <p:nvSpPr>
          <p:cNvPr id="14" name="">
            <a:extLst xmlns:a="http://schemas.openxmlformats.org/drawingml/2006/main">
              <a:ext uri="{FF2B5EF4-FFF2-40B4-BE49-F238E27FC236}">
                <a16:creationId xmlns:a16="http://schemas.microsoft.com/office/drawing/2014/main" id="{9DA79A36-F8FD-4396-A00C-C56A89FF2F41}"/>
              </a:ext>
            </a:extLst>
          </p:cNvPr>
          <p:cNvSpPr>
            <a:spLocks xmlns:a="http://schemas.openxmlformats.org/drawingml/2006/main" noGrp="1"/>
          </p:cNvSpPr>
          <p:nvPr/>
        </p:nvSpPr>
        <p:spPr>
          <a:xfrm xmlns:a="http://schemas.openxmlformats.org/drawingml/2006/main">
            <a:off x="7239000" y="1809750"/>
            <a:ext cx="428625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9525">
            <a:solidFill>
              <a:srgbClr val="D8E1EB"/>
            </a:solidFill>
          </a:ln>
        </p:spPr>
      </p:sp>
      <p:sp>
        <p:nvSpPr>
          <p:cNvPr id="15" name="">
            <a:extLst xmlns:a="http://schemas.openxmlformats.org/drawingml/2006/main">
              <a:ext uri="{FF2B5EF4-FFF2-40B4-BE49-F238E27FC236}">
                <a16:creationId xmlns:a16="http://schemas.microsoft.com/office/drawing/2014/main" id="{1E7FF322-58DE-49EA-A0C2-7AC32D229C33}"/>
              </a:ext>
            </a:extLst>
          </p:cNvPr>
          <p:cNvSpPr>
            <a:spLocks xmlns:a="http://schemas.openxmlformats.org/drawingml/2006/main" noGrp="1"/>
          </p:cNvSpPr>
          <p:nvPr/>
        </p:nvSpPr>
        <p:spPr>
          <a:xfrm xmlns:a="http://schemas.openxmlformats.org/drawingml/2006/main">
            <a:off x="7391400" y="1962150"/>
            <a:ext cx="114300" cy="819150"/>
          </a:xfrm>
          <a:prstGeom xmlns:a="http://schemas.openxmlformats.org/drawingml/2006/main" prst="roundRect">
            <a:avLst>
              <a:gd name="adj" fmla="val 50000"/>
            </a:avLst>
          </a:prstGeom>
          <a:solidFill xmlns:a="http://schemas.openxmlformats.org/drawingml/2006/main">
            <a:srgbClr val="11263F"/>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11C08D6C-2739-4088-A77D-BD1C162E1B80}"/>
              </a:ext>
            </a:extLst>
          </p:cNvPr>
          <p:cNvSpPr>
            <a:spLocks xmlns:a="http://schemas.openxmlformats.org/drawingml/2006/main" noGrp="1"/>
          </p:cNvSpPr>
          <p:nvPr/>
        </p:nvSpPr>
        <p:spPr>
          <a:xfrm xmlns:a="http://schemas.openxmlformats.org/drawingml/2006/main">
            <a:off x="7620000" y="1981200"/>
            <a:ext cx="375285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Interpretation</a:t>
            </a:r>
          </a:p>
        </p:txBody>
      </p:sp>
      <p:sp>
        <p:nvSpPr>
          <p:cNvPr id="17" name="">
            <a:extLst xmlns:a="http://schemas.openxmlformats.org/drawingml/2006/main">
              <a:ext uri="{FF2B5EF4-FFF2-40B4-BE49-F238E27FC236}">
                <a16:creationId xmlns:a16="http://schemas.microsoft.com/office/drawing/2014/main" id="{01AE9FE4-393C-4056-B40E-21D845C0A4DE}"/>
              </a:ext>
            </a:extLst>
          </p:cNvPr>
          <p:cNvSpPr>
            <a:spLocks xmlns:a="http://schemas.openxmlformats.org/drawingml/2006/main" noGrp="1"/>
          </p:cNvSpPr>
          <p:nvPr/>
        </p:nvSpPr>
        <p:spPr>
          <a:xfrm xmlns:a="http://schemas.openxmlformats.org/drawingml/2006/main">
            <a:off x="7620000" y="2362200"/>
            <a:ext cx="3752850" cy="4381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The fallback evaluation path is intentionally tiny, so the headline metric is best read as a correctness check on the bundled demo split rather than a benchmark claim.</a:t>
            </a:r>
          </a:p>
        </p:txBody>
      </p:sp>
      <p:sp>
        <p:nvSpPr>
          <p:cNvPr id="18" name="">
            <a:extLst xmlns:a="http://schemas.openxmlformats.org/drawingml/2006/main">
              <a:ext uri="{FF2B5EF4-FFF2-40B4-BE49-F238E27FC236}">
                <a16:creationId xmlns:a16="http://schemas.microsoft.com/office/drawing/2014/main" id="{BB735ED3-6046-4E0D-8830-D49B9316D456}"/>
              </a:ext>
            </a:extLst>
          </p:cNvPr>
          <p:cNvSpPr>
            <a:spLocks xmlns:a="http://schemas.openxmlformats.org/drawingml/2006/main" noGrp="1"/>
          </p:cNvSpPr>
          <p:nvPr/>
        </p:nvSpPr>
        <p:spPr>
          <a:xfrm xmlns:a="http://schemas.openxmlformats.org/drawingml/2006/main">
            <a:off x="666750" y="3333750"/>
            <a:ext cx="5810250" cy="2762250"/>
          </a:xfrm>
          <a:prstGeom xmlns:a="http://schemas.openxmlformats.org/drawingml/2006/main" prst="roundRect">
            <a:avLst>
              <a:gd name="adj" fmla="val 2759"/>
            </a:avLst>
          </a:prstGeom>
          <a:solidFill xmlns:a="http://schemas.openxmlformats.org/drawingml/2006/main">
            <a:srgbClr val="FFFFFF"/>
          </a:solidFill>
          <a:ln xmlns:a="http://schemas.openxmlformats.org/drawingml/2006/main" w="9525">
            <a:solidFill>
              <a:srgbClr val="D8E1EB"/>
            </a:solid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9c21a30fd014cf0"/>
          <a:stretch xmlns:a="http://schemas.openxmlformats.org/drawingml/2006/main"/>
        </p:blipFill>
        <p:spPr>
          <a:xfrm xmlns:a="http://schemas.openxmlformats.org/drawingml/2006/main">
            <a:off x="876300" y="3543300"/>
            <a:ext cx="5391150" cy="23431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13E57AE1-F3A5-4E75-B58D-B737F0D5D1D9}"/>
              </a:ext>
            </a:extLst>
          </p:cNvPr>
          <p:cNvSpPr>
            <a:spLocks xmlns:a="http://schemas.openxmlformats.org/drawingml/2006/main" noGrp="1"/>
          </p:cNvSpPr>
          <p:nvPr/>
        </p:nvSpPr>
        <p:spPr>
          <a:xfrm xmlns:a="http://schemas.openxmlformats.org/drawingml/2006/main">
            <a:off x="6762750" y="3333750"/>
            <a:ext cx="4762500" cy="2762250"/>
          </a:xfrm>
          <a:prstGeom xmlns:a="http://schemas.openxmlformats.org/drawingml/2006/main" prst="roundRect">
            <a:avLst>
              <a:gd name="adj" fmla="val 2759"/>
            </a:avLst>
          </a:prstGeom>
          <a:solidFill xmlns:a="http://schemas.openxmlformats.org/drawingml/2006/main">
            <a:srgbClr val="FFFFFF"/>
          </a:solidFill>
          <a:ln xmlns:a="http://schemas.openxmlformats.org/drawingml/2006/main" w="9525">
            <a:solidFill>
              <a:srgbClr val="D8E1EB"/>
            </a:solidFill>
          </a:ln>
        </p:spPr>
      </p:sp>
      <p:sp>
        <p:nvSpPr>
          <p:cNvPr id="21" name="">
            <a:extLst xmlns:a="http://schemas.openxmlformats.org/drawingml/2006/main">
              <a:ext uri="{FF2B5EF4-FFF2-40B4-BE49-F238E27FC236}">
                <a16:creationId xmlns:a16="http://schemas.microsoft.com/office/drawing/2014/main" id="{9F409563-B181-483D-86C4-E3B91D21F312}"/>
              </a:ext>
            </a:extLst>
          </p:cNvPr>
          <p:cNvSpPr>
            <a:spLocks xmlns:a="http://schemas.openxmlformats.org/drawingml/2006/main" noGrp="1"/>
          </p:cNvSpPr>
          <p:nvPr/>
        </p:nvSpPr>
        <p:spPr>
          <a:xfrm xmlns:a="http://schemas.openxmlformats.org/drawingml/2006/main">
            <a:off x="6915150" y="3486150"/>
            <a:ext cx="114300" cy="2457450"/>
          </a:xfrm>
          <a:prstGeom xmlns:a="http://schemas.openxmlformats.org/drawingml/2006/main" prst="roundRect">
            <a:avLst>
              <a:gd name="adj" fmla="val 50000"/>
            </a:avLst>
          </a:prstGeom>
          <a:solidFill xmlns:a="http://schemas.openxmlformats.org/drawingml/2006/main">
            <a:srgbClr val="2DB7A3"/>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534780EC-8F80-4CE6-9E19-A93DED0B8D68}"/>
              </a:ext>
            </a:extLst>
          </p:cNvPr>
          <p:cNvSpPr>
            <a:spLocks xmlns:a="http://schemas.openxmlformats.org/drawingml/2006/main" noGrp="1"/>
          </p:cNvSpPr>
          <p:nvPr/>
        </p:nvSpPr>
        <p:spPr>
          <a:xfrm xmlns:a="http://schemas.openxmlformats.org/drawingml/2006/main">
            <a:off x="7143750" y="3505200"/>
            <a:ext cx="422910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Generated artifacts</a:t>
            </a:r>
          </a:p>
        </p:txBody>
      </p:sp>
      <p:sp>
        <p:nvSpPr>
          <p:cNvPr id="23" name="">
            <a:extLst xmlns:a="http://schemas.openxmlformats.org/drawingml/2006/main">
              <a:ext uri="{FF2B5EF4-FFF2-40B4-BE49-F238E27FC236}">
                <a16:creationId xmlns:a16="http://schemas.microsoft.com/office/drawing/2014/main" id="{33CE8B10-9E66-47E1-8C3F-74A1675561FB}"/>
              </a:ext>
            </a:extLst>
          </p:cNvPr>
          <p:cNvSpPr>
            <a:spLocks xmlns:a="http://schemas.openxmlformats.org/drawingml/2006/main" noGrp="1"/>
          </p:cNvSpPr>
          <p:nvPr/>
        </p:nvSpPr>
        <p:spPr>
          <a:xfrm xmlns:a="http://schemas.openxmlformats.org/drawingml/2006/main">
            <a:off x="7143750" y="3886200"/>
            <a:ext cx="4229100" cy="20764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The evaluation command saves a summary metrics CSV, a classification report CSV, and a confusion matrix PNG. Those artifacts make the demo reproducible and easy to inspect during grading.</a:t>
            </a:r>
          </a:p>
        </p:txBody>
      </p:sp>
      <p:sp>
        <p:nvSpPr>
          <p:cNvPr id="24" name="">
            <a:extLst xmlns:a="http://schemas.openxmlformats.org/drawingml/2006/main">
              <a:ext uri="{FF2B5EF4-FFF2-40B4-BE49-F238E27FC236}">
                <a16:creationId xmlns:a16="http://schemas.microsoft.com/office/drawing/2014/main" id="{D1A90910-7748-4E99-9A0C-6FBAF2B9DE34}"/>
              </a:ext>
            </a:extLst>
          </p:cNvPr>
          <p:cNvSpPr>
            <a:spLocks xmlns:a="http://schemas.openxmlformats.org/drawingml/2006/main" noGrp="1"/>
          </p:cNvSpPr>
          <p:nvPr/>
        </p:nvSpPr>
        <p:spPr>
          <a:xfrm xmlns:a="http://schemas.openxmlformats.org/drawingml/2006/main">
            <a:off x="7143750" y="4267200"/>
            <a:ext cx="4000500" cy="1143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350" b="0">
                <a:solidFill>
                  <a:srgbClr val="152235"/>
                </a:solidFill>
              </a:defRPr>
            </a:pPr>
            <a:r>
              <a:rPr sz="1350" b="0">
                <a:solidFill>
                  <a:srgbClr val="152235"/>
                </a:solidFill>
              </a:rPr>
              <a:t>• reports/logreg_summary_metrics.csv</a:t>
            </a:r>
          </a:p>
          <a:p xmlns:a="http://schemas.openxmlformats.org/drawingml/2006/main">
            <a:pPr algn="l">
              <a:defRPr sz="1350" b="0">
                <a:solidFill>
                  <a:srgbClr val="152235"/>
                </a:solidFill>
              </a:defRPr>
            </a:pPr>
            <a:r>
              <a:rPr sz="1350" b="0">
                <a:solidFill>
                  <a:srgbClr val="152235"/>
                </a:solidFill>
              </a:rPr>
              <a:t>• reports/logreg_classification_report.csv</a:t>
            </a:r>
          </a:p>
          <a:p xmlns:a="http://schemas.openxmlformats.org/drawingml/2006/main">
            <a:pPr algn="l">
              <a:defRPr sz="1350" b="0">
                <a:solidFill>
                  <a:srgbClr val="152235"/>
                </a:solidFill>
              </a:defRPr>
            </a:pPr>
            <a:r>
              <a:rPr sz="1350" b="0">
                <a:solidFill>
                  <a:srgbClr val="152235"/>
                </a:solidFill>
              </a:rPr>
              <a:t>• reports/logreg_confusion_matrix.png</a:t>
            </a:r>
          </a:p>
          <a:p xmlns:a="http://schemas.openxmlformats.org/drawingml/2006/main">
            <a:pPr algn="l">
              <a:defRPr sz="1350" b="0">
                <a:solidFill>
                  <a:srgbClr val="152235"/>
                </a:solidFill>
              </a:defRPr>
            </a:pPr>
            <a:r>
              <a:rPr sz="1350" b="0">
                <a:solidFill>
                  <a:srgbClr val="152235"/>
                </a:solidFill>
              </a:rPr>
              <a:t>• reports/model_comparison.csv</a:t>
            </a:r>
          </a:p>
        </p:txBody>
      </p:sp>
    </p:spTree>
    <p:extLst>
      <p:ext uri="{BB962C8B-B14F-4D97-AF65-F5344CB8AC3E}">
        <p14:creationId xmlns:p14="http://schemas.microsoft.com/office/powerpoint/2010/main" val="1431086963"/>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1DC8211-31E6-422C-BAFD-AE1891C45EE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2D6EA1EE-7AB8-4E34-98E4-E540224F6F31}"/>
              </a:ext>
            </a:extLst>
          </p:cNvPr>
          <p:cNvSpPr>
            <a:spLocks xmlns:a="http://schemas.openxmlformats.org/drawingml/2006/main" noGrp="1"/>
          </p:cNvSpPr>
          <p:nvPr/>
        </p:nvSpPr>
        <p:spPr>
          <a:xfrm xmlns:a="http://schemas.openxmlformats.org/drawingml/2006/main">
            <a:off x="666750" y="381000"/>
            <a:ext cx="9334500" cy="81915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2550" b="1">
                <a:solidFill>
                  <a:srgbClr val="152235"/>
                </a:solidFill>
              </a:defRPr>
            </a:pPr>
            <a:r>
              <a:rPr sz="2550" b="1">
                <a:solidFill>
                  <a:srgbClr val="152235"/>
                </a:solidFill>
              </a:rPr>
              <a:t>Limitations and release safeguards</a:t>
            </a:r>
          </a:p>
        </p:txBody>
      </p:sp>
      <p:sp>
        <p:nvSpPr>
          <p:cNvPr id="3" name="">
            <a:extLst xmlns:a="http://schemas.openxmlformats.org/drawingml/2006/main">
              <a:ext uri="{FF2B5EF4-FFF2-40B4-BE49-F238E27FC236}">
                <a16:creationId xmlns:a16="http://schemas.microsoft.com/office/drawing/2014/main" id="{7DCD870E-E568-4442-B171-8C12461F702C}"/>
              </a:ext>
            </a:extLst>
          </p:cNvPr>
          <p:cNvSpPr>
            <a:spLocks xmlns:a="http://schemas.openxmlformats.org/drawingml/2006/main" noGrp="1"/>
          </p:cNvSpPr>
          <p:nvPr/>
        </p:nvSpPr>
        <p:spPr>
          <a:xfrm xmlns:a="http://schemas.openxmlformats.org/drawingml/2006/main">
            <a:off x="666750" y="1066800"/>
            <a:ext cx="9334500" cy="40005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The submission is intentionally conservative: safe defaults, a clear disclaimer, and no hidden dependency on external services.</a:t>
            </a:r>
          </a:p>
        </p:txBody>
      </p:sp>
      <p:sp>
        <p:nvSpPr>
          <p:cNvPr id="4" name="">
            <a:extLst xmlns:a="http://schemas.openxmlformats.org/drawingml/2006/main">
              <a:ext uri="{FF2B5EF4-FFF2-40B4-BE49-F238E27FC236}">
                <a16:creationId xmlns:a16="http://schemas.microsoft.com/office/drawing/2014/main" id="{A9F84EE6-C787-46AB-ABE7-7886E7D44863}"/>
              </a:ext>
            </a:extLst>
          </p:cNvPr>
          <p:cNvSpPr>
            <a:spLocks xmlns:a="http://schemas.openxmlformats.org/drawingml/2006/main" noGrp="1"/>
          </p:cNvSpPr>
          <p:nvPr/>
        </p:nvSpPr>
        <p:spPr>
          <a:xfrm xmlns:a="http://schemas.openxmlformats.org/drawingml/2006/main">
            <a:off x="10858500" y="6381750"/>
            <a:ext cx="857250" cy="22860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r">
              <a:defRPr sz="975" b="1">
                <a:solidFill>
                  <a:srgbClr val="5F6D7F"/>
                </a:solidFill>
              </a:defRPr>
            </a:pPr>
            <a:r>
              <a:rPr sz="975" b="1">
                <a:solidFill>
                  <a:srgbClr val="5F6D7F"/>
                </a:solidFill>
              </a:rPr>
              <a:t>06</a:t>
            </a:r>
          </a:p>
        </p:txBody>
      </p:sp>
      <p:sp>
        <p:nvSpPr>
          <p:cNvPr id="5" name="">
            <a:extLst xmlns:a="http://schemas.openxmlformats.org/drawingml/2006/main">
              <a:ext uri="{FF2B5EF4-FFF2-40B4-BE49-F238E27FC236}">
                <a16:creationId xmlns:a16="http://schemas.microsoft.com/office/drawing/2014/main" id="{DDB9BB2E-83BA-4990-AFE7-2E965F1B7AD3}"/>
              </a:ext>
            </a:extLst>
          </p:cNvPr>
          <p:cNvSpPr>
            <a:spLocks xmlns:a="http://schemas.openxmlformats.org/drawingml/2006/main" noGrp="1"/>
          </p:cNvSpPr>
          <p:nvPr/>
        </p:nvSpPr>
        <p:spPr>
          <a:xfrm xmlns:a="http://schemas.openxmlformats.org/drawingml/2006/main">
            <a:off x="666750" y="1809750"/>
            <a:ext cx="3333750" cy="3714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D8E1EB"/>
            </a:solidFill>
          </a:ln>
        </p:spPr>
      </p:sp>
      <p:sp>
        <p:nvSpPr>
          <p:cNvPr id="6" name="">
            <a:extLst xmlns:a="http://schemas.openxmlformats.org/drawingml/2006/main">
              <a:ext uri="{FF2B5EF4-FFF2-40B4-BE49-F238E27FC236}">
                <a16:creationId xmlns:a16="http://schemas.microsoft.com/office/drawing/2014/main" id="{EBCA2850-D6FD-4AF1-9B52-A6D224DCF598}"/>
              </a:ext>
            </a:extLst>
          </p:cNvPr>
          <p:cNvSpPr>
            <a:spLocks xmlns:a="http://schemas.openxmlformats.org/drawingml/2006/main" noGrp="1"/>
          </p:cNvSpPr>
          <p:nvPr/>
        </p:nvSpPr>
        <p:spPr>
          <a:xfrm xmlns:a="http://schemas.openxmlformats.org/drawingml/2006/main">
            <a:off x="819150" y="1962150"/>
            <a:ext cx="114300" cy="3409950"/>
          </a:xfrm>
          <a:prstGeom xmlns:a="http://schemas.openxmlformats.org/drawingml/2006/main" prst="roundRect">
            <a:avLst>
              <a:gd name="adj" fmla="val 50000"/>
            </a:avLst>
          </a:prstGeom>
          <a:solidFill xmlns:a="http://schemas.openxmlformats.org/drawingml/2006/main">
            <a:srgbClr val="F0B35D"/>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77893EFD-3352-4F85-A11B-41B933A9E195}"/>
              </a:ext>
            </a:extLst>
          </p:cNvPr>
          <p:cNvSpPr>
            <a:spLocks xmlns:a="http://schemas.openxmlformats.org/drawingml/2006/main" noGrp="1"/>
          </p:cNvSpPr>
          <p:nvPr/>
        </p:nvSpPr>
        <p:spPr>
          <a:xfrm xmlns:a="http://schemas.openxmlformats.org/drawingml/2006/main">
            <a:off x="1047750" y="1981200"/>
            <a:ext cx="280035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Known limitations</a:t>
            </a:r>
          </a:p>
        </p:txBody>
      </p:sp>
      <p:sp>
        <p:nvSpPr>
          <p:cNvPr id="8" name="">
            <a:extLst xmlns:a="http://schemas.openxmlformats.org/drawingml/2006/main">
              <a:ext uri="{FF2B5EF4-FFF2-40B4-BE49-F238E27FC236}">
                <a16:creationId xmlns:a16="http://schemas.microsoft.com/office/drawing/2014/main" id="{EE4842C3-0330-4476-8147-2B70A8AA93D7}"/>
              </a:ext>
            </a:extLst>
          </p:cNvPr>
          <p:cNvSpPr>
            <a:spLocks xmlns:a="http://schemas.openxmlformats.org/drawingml/2006/main" noGrp="1"/>
          </p:cNvSpPr>
          <p:nvPr/>
        </p:nvSpPr>
        <p:spPr>
          <a:xfrm xmlns:a="http://schemas.openxmlformats.org/drawingml/2006/main">
            <a:off x="1047750" y="2362200"/>
            <a:ext cx="2800350" cy="30289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Text extraction is only as good as the source PDF. Tiny fallback datasets are useful for smoke testing, but they are not a substitute for a real benchmark corpus. Risk scoring is rule-based and should be interpreted as screening guidance.</a:t>
            </a:r>
          </a:p>
        </p:txBody>
      </p:sp>
      <p:sp>
        <p:nvSpPr>
          <p:cNvPr id="9" name="">
            <a:extLst xmlns:a="http://schemas.openxmlformats.org/drawingml/2006/main">
              <a:ext uri="{FF2B5EF4-FFF2-40B4-BE49-F238E27FC236}">
                <a16:creationId xmlns:a16="http://schemas.microsoft.com/office/drawing/2014/main" id="{0A81D63F-BE45-4677-BBBC-88FAECAABD48}"/>
              </a:ext>
            </a:extLst>
          </p:cNvPr>
          <p:cNvSpPr>
            <a:spLocks xmlns:a="http://schemas.openxmlformats.org/drawingml/2006/main" noGrp="1"/>
          </p:cNvSpPr>
          <p:nvPr/>
        </p:nvSpPr>
        <p:spPr>
          <a:xfrm xmlns:a="http://schemas.openxmlformats.org/drawingml/2006/main">
            <a:off x="4429125" y="1809750"/>
            <a:ext cx="3333750" cy="3714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D8E1EB"/>
            </a:solidFill>
          </a:ln>
        </p:spPr>
      </p:sp>
      <p:sp>
        <p:nvSpPr>
          <p:cNvPr id="10" name="">
            <a:extLst xmlns:a="http://schemas.openxmlformats.org/drawingml/2006/main">
              <a:ext uri="{FF2B5EF4-FFF2-40B4-BE49-F238E27FC236}">
                <a16:creationId xmlns:a16="http://schemas.microsoft.com/office/drawing/2014/main" id="{56E61B6E-68FC-4823-931D-7B580EDA6A6D}"/>
              </a:ext>
            </a:extLst>
          </p:cNvPr>
          <p:cNvSpPr>
            <a:spLocks xmlns:a="http://schemas.openxmlformats.org/drawingml/2006/main" noGrp="1"/>
          </p:cNvSpPr>
          <p:nvPr/>
        </p:nvSpPr>
        <p:spPr>
          <a:xfrm xmlns:a="http://schemas.openxmlformats.org/drawingml/2006/main">
            <a:off x="4581525" y="1962150"/>
            <a:ext cx="114300" cy="3409950"/>
          </a:xfrm>
          <a:prstGeom xmlns:a="http://schemas.openxmlformats.org/drawingml/2006/main" prst="roundRect">
            <a:avLst>
              <a:gd name="adj" fmla="val 50000"/>
            </a:avLst>
          </a:prstGeom>
          <a:solidFill xmlns:a="http://schemas.openxmlformats.org/drawingml/2006/main">
            <a:srgbClr val="2DB7A3"/>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EC48D642-FC3F-4E92-BC7B-4A970FB3979A}"/>
              </a:ext>
            </a:extLst>
          </p:cNvPr>
          <p:cNvSpPr>
            <a:spLocks xmlns:a="http://schemas.openxmlformats.org/drawingml/2006/main" noGrp="1"/>
          </p:cNvSpPr>
          <p:nvPr/>
        </p:nvSpPr>
        <p:spPr>
          <a:xfrm xmlns:a="http://schemas.openxmlformats.org/drawingml/2006/main">
            <a:off x="4810125" y="1981200"/>
            <a:ext cx="280035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Release safeguards</a:t>
            </a:r>
          </a:p>
        </p:txBody>
      </p:sp>
      <p:sp>
        <p:nvSpPr>
          <p:cNvPr id="12" name="">
            <a:extLst xmlns:a="http://schemas.openxmlformats.org/drawingml/2006/main">
              <a:ext uri="{FF2B5EF4-FFF2-40B4-BE49-F238E27FC236}">
                <a16:creationId xmlns:a16="http://schemas.microsoft.com/office/drawing/2014/main" id="{15B54D7B-70F4-4859-94BD-943B2617DE87}"/>
              </a:ext>
            </a:extLst>
          </p:cNvPr>
          <p:cNvSpPr>
            <a:spLocks xmlns:a="http://schemas.openxmlformats.org/drawingml/2006/main" noGrp="1"/>
          </p:cNvSpPr>
          <p:nvPr/>
        </p:nvSpPr>
        <p:spPr>
          <a:xfrm xmlns:a="http://schemas.openxmlformats.org/drawingml/2006/main">
            <a:off x="4810125" y="2362200"/>
            <a:ext cx="2800350" cy="30289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The hosted startup path is explicit, the model cache is optional, environment variables can override file paths, and the test suite covers the assistant, UI helpers, ingestion, PDF export, and workflow modules.</a:t>
            </a:r>
          </a:p>
        </p:txBody>
      </p:sp>
      <p:sp>
        <p:nvSpPr>
          <p:cNvPr id="13" name="">
            <a:extLst xmlns:a="http://schemas.openxmlformats.org/drawingml/2006/main">
              <a:ext uri="{FF2B5EF4-FFF2-40B4-BE49-F238E27FC236}">
                <a16:creationId xmlns:a16="http://schemas.microsoft.com/office/drawing/2014/main" id="{716DD226-4FD0-4D88-920F-33BBEA176A03}"/>
              </a:ext>
            </a:extLst>
          </p:cNvPr>
          <p:cNvSpPr>
            <a:spLocks xmlns:a="http://schemas.openxmlformats.org/drawingml/2006/main" noGrp="1"/>
          </p:cNvSpPr>
          <p:nvPr/>
        </p:nvSpPr>
        <p:spPr>
          <a:xfrm xmlns:a="http://schemas.openxmlformats.org/drawingml/2006/main">
            <a:off x="8191500" y="1809750"/>
            <a:ext cx="3333750" cy="3714750"/>
          </a:xfrm>
          <a:prstGeom xmlns:a="http://schemas.openxmlformats.org/drawingml/2006/main" prst="roundRect">
            <a:avLst>
              <a:gd name="adj" fmla="val 2286"/>
            </a:avLst>
          </a:prstGeom>
          <a:solidFill xmlns:a="http://schemas.openxmlformats.org/drawingml/2006/main">
            <a:srgbClr val="FFFFFF"/>
          </a:solidFill>
          <a:ln xmlns:a="http://schemas.openxmlformats.org/drawingml/2006/main" w="9525">
            <a:solidFill>
              <a:srgbClr val="D8E1EB"/>
            </a:solidFill>
          </a:ln>
        </p:spPr>
      </p:sp>
      <p:sp>
        <p:nvSpPr>
          <p:cNvPr id="14" name="">
            <a:extLst xmlns:a="http://schemas.openxmlformats.org/drawingml/2006/main">
              <a:ext uri="{FF2B5EF4-FFF2-40B4-BE49-F238E27FC236}">
                <a16:creationId xmlns:a16="http://schemas.microsoft.com/office/drawing/2014/main" id="{8EC4A57C-FEA8-444B-8B50-9DB08E4054F9}"/>
              </a:ext>
            </a:extLst>
          </p:cNvPr>
          <p:cNvSpPr>
            <a:spLocks xmlns:a="http://schemas.openxmlformats.org/drawingml/2006/main" noGrp="1"/>
          </p:cNvSpPr>
          <p:nvPr/>
        </p:nvSpPr>
        <p:spPr>
          <a:xfrm xmlns:a="http://schemas.openxmlformats.org/drawingml/2006/main">
            <a:off x="8343900" y="1962150"/>
            <a:ext cx="114300" cy="3409950"/>
          </a:xfrm>
          <a:prstGeom xmlns:a="http://schemas.openxmlformats.org/drawingml/2006/main" prst="roundRect">
            <a:avLst>
              <a:gd name="adj" fmla="val 50000"/>
            </a:avLst>
          </a:prstGeom>
          <a:solidFill xmlns:a="http://schemas.openxmlformats.org/drawingml/2006/main">
            <a:srgbClr val="11263F"/>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7F29654E-7D36-4CC6-8FF9-B95CD8FB6258}"/>
              </a:ext>
            </a:extLst>
          </p:cNvPr>
          <p:cNvSpPr>
            <a:spLocks xmlns:a="http://schemas.openxmlformats.org/drawingml/2006/main" noGrp="1"/>
          </p:cNvSpPr>
          <p:nvPr/>
        </p:nvSpPr>
        <p:spPr>
          <a:xfrm xmlns:a="http://schemas.openxmlformats.org/drawingml/2006/main">
            <a:off x="8572500" y="1981200"/>
            <a:ext cx="280035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What to mention in the demo</a:t>
            </a:r>
          </a:p>
        </p:txBody>
      </p:sp>
      <p:sp>
        <p:nvSpPr>
          <p:cNvPr id="16" name="">
            <a:extLst xmlns:a="http://schemas.openxmlformats.org/drawingml/2006/main">
              <a:ext uri="{FF2B5EF4-FFF2-40B4-BE49-F238E27FC236}">
                <a16:creationId xmlns:a16="http://schemas.microsoft.com/office/drawing/2014/main" id="{85301BFB-1A3C-48F9-952E-3412C56F4C3C}"/>
              </a:ext>
            </a:extLst>
          </p:cNvPr>
          <p:cNvSpPr>
            <a:spLocks xmlns:a="http://schemas.openxmlformats.org/drawingml/2006/main" noGrp="1"/>
          </p:cNvSpPr>
          <p:nvPr/>
        </p:nvSpPr>
        <p:spPr>
          <a:xfrm xmlns:a="http://schemas.openxmlformats.org/drawingml/2006/main">
            <a:off x="8572500" y="2362200"/>
            <a:ext cx="2800350" cy="30289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Say that Milestone 2 does not replace Milestone 1. It preserves the baseline classifier, adds grounded reporting, and packages the app so it can be hosted publicly without extra setup.</a:t>
            </a:r>
          </a:p>
        </p:txBody>
      </p:sp>
    </p:spTree>
    <p:extLst>
      <p:ext uri="{BB962C8B-B14F-4D97-AF65-F5344CB8AC3E}">
        <p14:creationId xmlns:p14="http://schemas.microsoft.com/office/powerpoint/2010/main" val="762633745"/>
      </p:ext>
    </p:extLst>
  </p:cSld>
</p:sld>
</file>

<file path=ppt/slides/slide7.xml><?xml version="1.0" encoding="utf-8"?>
<p:sld xmlns:p="http://schemas.openxmlformats.org/presentationml/2006/main">
  <p:cSld>
    <p:bg>
      <p:bgPr>
        <a:solidFill xmlns:a="http://schemas.openxmlformats.org/drawingml/2006/main">
          <a:srgbClr val="11263F"/>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1DC8211-31E6-422C-BAFD-AE1891C45EE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61A6B8C-485B-49DB-B614-7551D91F2F10}"/>
              </a:ext>
            </a:extLst>
          </p:cNvPr>
          <p:cNvSpPr>
            <a:spLocks xmlns:a="http://schemas.openxmlformats.org/drawingml/2006/main" noGrp="1"/>
          </p:cNvSpPr>
          <p:nvPr/>
        </p:nvSpPr>
        <p:spPr>
          <a:xfrm xmlns:a="http://schemas.openxmlformats.org/drawingml/2006/main">
            <a:off x="666750" y="381000"/>
            <a:ext cx="9334500" cy="819150"/>
          </a:xfrm>
          <a:prstGeom xmlns:a="http://schemas.openxmlformats.org/drawingml/2006/main" prst="rect">
            <a:avLst/>
          </a:prstGeom>
          <a:solidFill xmlns:a="http://schemas.openxmlformats.org/drawingml/2006/main">
            <a:srgbClr val="11263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2550" b="1">
                <a:solidFill>
                  <a:srgbClr val="FFFFFF"/>
                </a:solidFill>
              </a:defRPr>
            </a:pPr>
            <a:r>
              <a:rPr sz="2550" b="1">
                <a:solidFill>
                  <a:srgbClr val="FFFFFF"/>
                </a:solidFill>
              </a:rPr>
              <a:t>Final checklist</a:t>
            </a:r>
          </a:p>
        </p:txBody>
      </p:sp>
      <p:sp>
        <p:nvSpPr>
          <p:cNvPr id="3" name="">
            <a:extLst xmlns:a="http://schemas.openxmlformats.org/drawingml/2006/main">
              <a:ext uri="{FF2B5EF4-FFF2-40B4-BE49-F238E27FC236}">
                <a16:creationId xmlns:a16="http://schemas.microsoft.com/office/drawing/2014/main" id="{3E0D15A7-A5FB-4DEB-B81E-16820D7D70F2}"/>
              </a:ext>
            </a:extLst>
          </p:cNvPr>
          <p:cNvSpPr>
            <a:spLocks xmlns:a="http://schemas.openxmlformats.org/drawingml/2006/main" noGrp="1"/>
          </p:cNvSpPr>
          <p:nvPr/>
        </p:nvSpPr>
        <p:spPr>
          <a:xfrm xmlns:a="http://schemas.openxmlformats.org/drawingml/2006/main">
            <a:off x="666750" y="1066800"/>
            <a:ext cx="9334500" cy="400050"/>
          </a:xfrm>
          <a:prstGeom xmlns:a="http://schemas.openxmlformats.org/drawingml/2006/main" prst="rect">
            <a:avLst/>
          </a:prstGeom>
          <a:solidFill xmlns:a="http://schemas.openxmlformats.org/drawingml/2006/main">
            <a:srgbClr val="11263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D4DEEA"/>
                </a:solidFill>
              </a:defRPr>
            </a:pPr>
            <a:r>
              <a:rPr sz="1200" b="0">
                <a:solidFill>
                  <a:srgbClr val="D4DEEA"/>
                </a:solidFill>
              </a:rPr>
              <a:t>The repository now has a stable submission path from source code to hosted demo.</a:t>
            </a:r>
          </a:p>
        </p:txBody>
      </p:sp>
      <p:sp>
        <p:nvSpPr>
          <p:cNvPr id="4" name="">
            <a:extLst xmlns:a="http://schemas.openxmlformats.org/drawingml/2006/main">
              <a:ext uri="{FF2B5EF4-FFF2-40B4-BE49-F238E27FC236}">
                <a16:creationId xmlns:a16="http://schemas.microsoft.com/office/drawing/2014/main" id="{B2E38FA4-6AB4-4D48-AA28-B03902AFD1B6}"/>
              </a:ext>
            </a:extLst>
          </p:cNvPr>
          <p:cNvSpPr>
            <a:spLocks xmlns:a="http://schemas.openxmlformats.org/drawingml/2006/main" noGrp="1"/>
          </p:cNvSpPr>
          <p:nvPr/>
        </p:nvSpPr>
        <p:spPr>
          <a:xfrm xmlns:a="http://schemas.openxmlformats.org/drawingml/2006/main">
            <a:off x="10858500" y="6381750"/>
            <a:ext cx="857250" cy="228600"/>
          </a:xfrm>
          <a:prstGeom xmlns:a="http://schemas.openxmlformats.org/drawingml/2006/main" prst="rect">
            <a:avLst/>
          </a:prstGeom>
          <a:solidFill xmlns:a="http://schemas.openxmlformats.org/drawingml/2006/main">
            <a:srgbClr val="11263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r">
              <a:defRPr sz="975" b="1">
                <a:solidFill>
                  <a:srgbClr val="5F6D7F"/>
                </a:solidFill>
              </a:defRPr>
            </a:pPr>
            <a:r>
              <a:rPr sz="975" b="1">
                <a:solidFill>
                  <a:srgbClr val="5F6D7F"/>
                </a:solidFill>
              </a:rPr>
              <a:t>07</a:t>
            </a:r>
          </a:p>
        </p:txBody>
      </p:sp>
      <p:sp>
        <p:nvSpPr>
          <p:cNvPr id="5" name="">
            <a:extLst xmlns:a="http://schemas.openxmlformats.org/drawingml/2006/main">
              <a:ext uri="{FF2B5EF4-FFF2-40B4-BE49-F238E27FC236}">
                <a16:creationId xmlns:a16="http://schemas.microsoft.com/office/drawing/2014/main" id="{5E88991C-5B1C-4BF5-9097-F4B36B9B58E2}"/>
              </a:ext>
            </a:extLst>
          </p:cNvPr>
          <p:cNvSpPr>
            <a:spLocks xmlns:a="http://schemas.openxmlformats.org/drawingml/2006/main" noGrp="1"/>
          </p:cNvSpPr>
          <p:nvPr/>
        </p:nvSpPr>
        <p:spPr>
          <a:xfrm xmlns:a="http://schemas.openxmlformats.org/drawingml/2006/main">
            <a:off x="762000" y="1809750"/>
            <a:ext cx="5143500" cy="3429000"/>
          </a:xfrm>
          <a:prstGeom xmlns:a="http://schemas.openxmlformats.org/drawingml/2006/main" prst="roundRect">
            <a:avLst>
              <a:gd name="adj" fmla="val 2222"/>
            </a:avLst>
          </a:prstGeom>
          <a:solidFill xmlns:a="http://schemas.openxmlformats.org/drawingml/2006/main">
            <a:srgbClr val="10253D"/>
          </a:solidFill>
          <a:ln xmlns:a="http://schemas.openxmlformats.org/drawingml/2006/main" w="9525">
            <a:solidFill>
              <a:srgbClr val="D8E1EB"/>
            </a:solidFill>
          </a:ln>
        </p:spPr>
      </p:sp>
      <p:sp>
        <p:nvSpPr>
          <p:cNvPr id="6" name="">
            <a:extLst xmlns:a="http://schemas.openxmlformats.org/drawingml/2006/main">
              <a:ext uri="{FF2B5EF4-FFF2-40B4-BE49-F238E27FC236}">
                <a16:creationId xmlns:a16="http://schemas.microsoft.com/office/drawing/2014/main" id="{0371ED82-6E0A-4327-9E16-D278C9B4D546}"/>
              </a:ext>
            </a:extLst>
          </p:cNvPr>
          <p:cNvSpPr>
            <a:spLocks xmlns:a="http://schemas.openxmlformats.org/drawingml/2006/main" noGrp="1"/>
          </p:cNvSpPr>
          <p:nvPr/>
        </p:nvSpPr>
        <p:spPr>
          <a:xfrm xmlns:a="http://schemas.openxmlformats.org/drawingml/2006/main">
            <a:off x="914400" y="1962150"/>
            <a:ext cx="114300" cy="3124200"/>
          </a:xfrm>
          <a:prstGeom xmlns:a="http://schemas.openxmlformats.org/drawingml/2006/main" prst="roundRect">
            <a:avLst>
              <a:gd name="adj" fmla="val 50000"/>
            </a:avLst>
          </a:prstGeom>
          <a:solidFill xmlns:a="http://schemas.openxmlformats.org/drawingml/2006/main">
            <a:srgbClr val="2DB7A3"/>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994D74B7-FA09-47DC-826C-7F97690E770E}"/>
              </a:ext>
            </a:extLst>
          </p:cNvPr>
          <p:cNvSpPr>
            <a:spLocks xmlns:a="http://schemas.openxmlformats.org/drawingml/2006/main" noGrp="1"/>
          </p:cNvSpPr>
          <p:nvPr/>
        </p:nvSpPr>
        <p:spPr>
          <a:xfrm xmlns:a="http://schemas.openxmlformats.org/drawingml/2006/main">
            <a:off x="1143000" y="1981200"/>
            <a:ext cx="4610100" cy="323850"/>
          </a:xfrm>
          <a:prstGeom xmlns:a="http://schemas.openxmlformats.org/drawingml/2006/main" prst="rect">
            <a:avLst/>
          </a:prstGeom>
          <a:solidFill xmlns:a="http://schemas.openxmlformats.org/drawingml/2006/main">
            <a:srgbClr val="10253D"/>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Submission-ready items</a:t>
            </a:r>
          </a:p>
        </p:txBody>
      </p:sp>
      <p:sp>
        <p:nvSpPr>
          <p:cNvPr id="8" name="">
            <a:extLst xmlns:a="http://schemas.openxmlformats.org/drawingml/2006/main">
              <a:ext uri="{FF2B5EF4-FFF2-40B4-BE49-F238E27FC236}">
                <a16:creationId xmlns:a16="http://schemas.microsoft.com/office/drawing/2014/main" id="{98135145-8C36-40A7-889C-5C764720946E}"/>
              </a:ext>
            </a:extLst>
          </p:cNvPr>
          <p:cNvSpPr>
            <a:spLocks xmlns:a="http://schemas.openxmlformats.org/drawingml/2006/main" noGrp="1"/>
          </p:cNvSpPr>
          <p:nvPr/>
        </p:nvSpPr>
        <p:spPr>
          <a:xfrm xmlns:a="http://schemas.openxmlformats.org/drawingml/2006/main">
            <a:off x="1143000" y="2362200"/>
            <a:ext cx="4610100" cy="2743200"/>
          </a:xfrm>
          <a:prstGeom xmlns:a="http://schemas.openxmlformats.org/drawingml/2006/main" prst="rect">
            <a:avLst/>
          </a:prstGeom>
          <a:solidFill xmlns:a="http://schemas.openxmlformats.org/drawingml/2006/main">
            <a:srgbClr val="10253D"/>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 Public-host entrypoints and deployment config</a:t>
            </a:r>
          </a:p>
          <a:p xmlns:a="http://schemas.openxmlformats.org/drawingml/2006/main">
            <a:pPr algn="l">
              <a:defRPr sz="1200" b="0">
                <a:solidFill>
                  <a:srgbClr val="5F6D7F"/>
                </a:solidFill>
              </a:defRPr>
            </a:pPr>
            <a:r>
              <a:rPr sz="1200" b="0">
                <a:solidFill>
                  <a:srgbClr val="5F6D7F"/>
                </a:solidFill>
              </a:rPr>
              <a:t>• Pinned dependencies and env-driven paths</a:t>
            </a:r>
          </a:p>
          <a:p xmlns:a="http://schemas.openxmlformats.org/drawingml/2006/main">
            <a:pPr algn="l">
              <a:defRPr sz="1200" b="0">
                <a:solidFill>
                  <a:srgbClr val="5F6D7F"/>
                </a:solidFill>
              </a:defRPr>
            </a:pPr>
            <a:r>
              <a:rPr sz="1200" b="0">
                <a:solidFill>
                  <a:srgbClr val="5F6D7F"/>
                </a:solidFill>
              </a:rPr>
              <a:t>• Milestone 2 README and deployment notes</a:t>
            </a:r>
          </a:p>
          <a:p xmlns:a="http://schemas.openxmlformats.org/drawingml/2006/main">
            <a:pPr algn="l">
              <a:defRPr sz="1200" b="0">
                <a:solidFill>
                  <a:srgbClr val="5F6D7F"/>
                </a:solidFill>
              </a:defRPr>
            </a:pPr>
            <a:r>
              <a:rPr sz="1200" b="0">
                <a:solidFill>
                  <a:srgbClr val="5F6D7F"/>
                </a:solidFill>
              </a:rPr>
              <a:t>• Milestone 2 report and presentation content</a:t>
            </a:r>
          </a:p>
          <a:p xmlns:a="http://schemas.openxmlformats.org/drawingml/2006/main">
            <a:pPr algn="l">
              <a:defRPr sz="1200" b="0">
                <a:solidFill>
                  <a:srgbClr val="5F6D7F"/>
                </a:solidFill>
              </a:defRPr>
            </a:pPr>
            <a:r>
              <a:rPr sz="1200" b="0">
                <a:solidFill>
                  <a:srgbClr val="5F6D7F"/>
                </a:solidFill>
              </a:rPr>
              <a:t>• CI smoke coverage and the existing unit test suite</a:t>
            </a:r>
          </a:p>
        </p:txBody>
      </p:sp>
      <p:sp>
        <p:nvSpPr>
          <p:cNvPr id="9" name="">
            <a:extLst xmlns:a="http://schemas.openxmlformats.org/drawingml/2006/main">
              <a:ext uri="{FF2B5EF4-FFF2-40B4-BE49-F238E27FC236}">
                <a16:creationId xmlns:a16="http://schemas.microsoft.com/office/drawing/2014/main" id="{01FD1A96-15EF-4140-A186-FBB8FA1A1150}"/>
              </a:ext>
            </a:extLst>
          </p:cNvPr>
          <p:cNvSpPr>
            <a:spLocks xmlns:a="http://schemas.openxmlformats.org/drawingml/2006/main" noGrp="1"/>
          </p:cNvSpPr>
          <p:nvPr/>
        </p:nvSpPr>
        <p:spPr>
          <a:xfrm xmlns:a="http://schemas.openxmlformats.org/drawingml/2006/main">
            <a:off x="6286500" y="1809750"/>
            <a:ext cx="5143500" cy="3429000"/>
          </a:xfrm>
          <a:prstGeom xmlns:a="http://schemas.openxmlformats.org/drawingml/2006/main" prst="roundRect">
            <a:avLst>
              <a:gd name="adj" fmla="val 2222"/>
            </a:avLst>
          </a:prstGeom>
          <a:solidFill xmlns:a="http://schemas.openxmlformats.org/drawingml/2006/main">
            <a:srgbClr val="10253D"/>
          </a:solidFill>
          <a:ln xmlns:a="http://schemas.openxmlformats.org/drawingml/2006/main" w="9525">
            <a:solidFill>
              <a:srgbClr val="D8E1EB"/>
            </a:solidFill>
          </a:ln>
        </p:spPr>
      </p:sp>
      <p:sp>
        <p:nvSpPr>
          <p:cNvPr id="10" name="">
            <a:extLst xmlns:a="http://schemas.openxmlformats.org/drawingml/2006/main">
              <a:ext uri="{FF2B5EF4-FFF2-40B4-BE49-F238E27FC236}">
                <a16:creationId xmlns:a16="http://schemas.microsoft.com/office/drawing/2014/main" id="{EB8BEB83-BE30-40B5-9C5B-8E03BCDD7573}"/>
              </a:ext>
            </a:extLst>
          </p:cNvPr>
          <p:cNvSpPr>
            <a:spLocks xmlns:a="http://schemas.openxmlformats.org/drawingml/2006/main" noGrp="1"/>
          </p:cNvSpPr>
          <p:nvPr/>
        </p:nvSpPr>
        <p:spPr>
          <a:xfrm xmlns:a="http://schemas.openxmlformats.org/drawingml/2006/main">
            <a:off x="6438900" y="1962150"/>
            <a:ext cx="114300" cy="3124200"/>
          </a:xfrm>
          <a:prstGeom xmlns:a="http://schemas.openxmlformats.org/drawingml/2006/main" prst="roundRect">
            <a:avLst>
              <a:gd name="adj" fmla="val 50000"/>
            </a:avLst>
          </a:prstGeom>
          <a:solidFill xmlns:a="http://schemas.openxmlformats.org/drawingml/2006/main">
            <a:srgbClr val="F0B35D"/>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2C94C06D-E30A-47AB-9A29-8C377C1ED325}"/>
              </a:ext>
            </a:extLst>
          </p:cNvPr>
          <p:cNvSpPr>
            <a:spLocks xmlns:a="http://schemas.openxmlformats.org/drawingml/2006/main" noGrp="1"/>
          </p:cNvSpPr>
          <p:nvPr/>
        </p:nvSpPr>
        <p:spPr>
          <a:xfrm xmlns:a="http://schemas.openxmlformats.org/drawingml/2006/main">
            <a:off x="6667500" y="1981200"/>
            <a:ext cx="4610100" cy="323850"/>
          </a:xfrm>
          <a:prstGeom xmlns:a="http://schemas.openxmlformats.org/drawingml/2006/main" prst="rect">
            <a:avLst/>
          </a:prstGeom>
          <a:solidFill xmlns:a="http://schemas.openxmlformats.org/drawingml/2006/main">
            <a:srgbClr val="10253D"/>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Last thing to verify</a:t>
            </a:r>
          </a:p>
        </p:txBody>
      </p:sp>
      <p:sp>
        <p:nvSpPr>
          <p:cNvPr id="12" name="">
            <a:extLst xmlns:a="http://schemas.openxmlformats.org/drawingml/2006/main">
              <a:ext uri="{FF2B5EF4-FFF2-40B4-BE49-F238E27FC236}">
                <a16:creationId xmlns:a16="http://schemas.microsoft.com/office/drawing/2014/main" id="{0672DDD9-1431-4CCB-B563-683F1E6A16B8}"/>
              </a:ext>
            </a:extLst>
          </p:cNvPr>
          <p:cNvSpPr>
            <a:spLocks xmlns:a="http://schemas.openxmlformats.org/drawingml/2006/main" noGrp="1"/>
          </p:cNvSpPr>
          <p:nvPr/>
        </p:nvSpPr>
        <p:spPr>
          <a:xfrm xmlns:a="http://schemas.openxmlformats.org/drawingml/2006/main">
            <a:off x="6667500" y="2362200"/>
            <a:ext cx="4610100" cy="2743200"/>
          </a:xfrm>
          <a:prstGeom xmlns:a="http://schemas.openxmlformats.org/drawingml/2006/main" prst="rect">
            <a:avLst/>
          </a:prstGeom>
          <a:solidFill xmlns:a="http://schemas.openxmlformats.org/drawingml/2006/main">
            <a:srgbClr val="10253D"/>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Open the hosted app, upload a contract, generate the report, and confirm the download buttons work. If that path succeeds, the release is ready for grading.</a:t>
            </a:r>
          </a:p>
        </p:txBody>
      </p:sp>
      <p:sp>
        <p:nvSpPr>
          <p:cNvPr id="13" name="">
            <a:extLst xmlns:a="http://schemas.openxmlformats.org/drawingml/2006/main">
              <a:ext uri="{FF2B5EF4-FFF2-40B4-BE49-F238E27FC236}">
                <a16:creationId xmlns:a16="http://schemas.microsoft.com/office/drawing/2014/main" id="{683660FD-0C3E-4F1F-8248-A5B5B22FE177}"/>
              </a:ext>
            </a:extLst>
          </p:cNvPr>
          <p:cNvSpPr>
            <a:spLocks xmlns:a="http://schemas.openxmlformats.org/drawingml/2006/main" noGrp="1"/>
          </p:cNvSpPr>
          <p:nvPr/>
        </p:nvSpPr>
        <p:spPr>
          <a:xfrm xmlns:a="http://schemas.openxmlformats.org/drawingml/2006/main">
            <a:off x="857250" y="5619750"/>
            <a:ext cx="10477500" cy="381000"/>
          </a:xfrm>
          <a:prstGeom xmlns:a="http://schemas.openxmlformats.org/drawingml/2006/main" prst="rect">
            <a:avLst/>
          </a:prstGeom>
          <a:solidFill xmlns:a="http://schemas.openxmlformats.org/drawingml/2006/main">
            <a:srgbClr val="11263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2250" b="1">
                <a:solidFill>
                  <a:srgbClr val="FFFFFF"/>
                </a:solidFill>
              </a:defRPr>
            </a:pPr>
            <a:r>
              <a:rPr sz="2250" b="1">
                <a:solidFill>
                  <a:srgbClr val="FFFFFF"/>
                </a:solidFill>
              </a:rPr>
              <a:t>Thank you</a:t>
            </a:r>
          </a:p>
        </p:txBody>
      </p:sp>
    </p:spTree>
    <p:extLst>
      <p:ext uri="{BB962C8B-B14F-4D97-AF65-F5344CB8AC3E}">
        <p14:creationId xmlns:p14="http://schemas.microsoft.com/office/powerpoint/2010/main" val="360176858"/>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1DC8211-31E6-422C-BAFD-AE1891C45EE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E69EBDBD-4E24-4959-8C89-3191037330F4}"/>
              </a:ext>
            </a:extLst>
          </p:cNvPr>
          <p:cNvSpPr>
            <a:spLocks xmlns:a="http://schemas.openxmlformats.org/drawingml/2006/main" noGrp="1"/>
          </p:cNvSpPr>
          <p:nvPr/>
        </p:nvSpPr>
        <p:spPr>
          <a:xfrm xmlns:a="http://schemas.openxmlformats.org/drawingml/2006/main">
            <a:off x="666750" y="381000"/>
            <a:ext cx="9334500" cy="81915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2550" b="1">
                <a:solidFill>
                  <a:srgbClr val="152235"/>
                </a:solidFill>
              </a:defRPr>
            </a:pPr>
            <a:r>
              <a:rPr sz="2550" b="1">
                <a:solidFill>
                  <a:srgbClr val="152235"/>
                </a:solidFill>
              </a:rPr>
              <a:t>Assistant report anatomy</a:t>
            </a:r>
          </a:p>
        </p:txBody>
      </p:sp>
      <p:sp>
        <p:nvSpPr>
          <p:cNvPr id="3" name="">
            <a:extLst xmlns:a="http://schemas.openxmlformats.org/drawingml/2006/main">
              <a:ext uri="{FF2B5EF4-FFF2-40B4-BE49-F238E27FC236}">
                <a16:creationId xmlns:a16="http://schemas.microsoft.com/office/drawing/2014/main" id="{6FEEEFB4-0023-489E-9F4A-A69DFE4361DB}"/>
              </a:ext>
            </a:extLst>
          </p:cNvPr>
          <p:cNvSpPr>
            <a:spLocks xmlns:a="http://schemas.openxmlformats.org/drawingml/2006/main" noGrp="1"/>
          </p:cNvSpPr>
          <p:nvPr/>
        </p:nvSpPr>
        <p:spPr>
          <a:xfrm xmlns:a="http://schemas.openxmlformats.org/drawingml/2006/main">
            <a:off x="666750" y="1066800"/>
            <a:ext cx="9334500" cy="40005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The report is structured so a reviewer can trace each finding from summary to evidence.</a:t>
            </a:r>
          </a:p>
        </p:txBody>
      </p:sp>
      <p:sp>
        <p:nvSpPr>
          <p:cNvPr id="4" name="">
            <a:extLst xmlns:a="http://schemas.openxmlformats.org/drawingml/2006/main">
              <a:ext uri="{FF2B5EF4-FFF2-40B4-BE49-F238E27FC236}">
                <a16:creationId xmlns:a16="http://schemas.microsoft.com/office/drawing/2014/main" id="{0441C968-6C94-446D-AB51-F4EF021D06D3}"/>
              </a:ext>
            </a:extLst>
          </p:cNvPr>
          <p:cNvSpPr>
            <a:spLocks xmlns:a="http://schemas.openxmlformats.org/drawingml/2006/main" noGrp="1"/>
          </p:cNvSpPr>
          <p:nvPr/>
        </p:nvSpPr>
        <p:spPr>
          <a:xfrm xmlns:a="http://schemas.openxmlformats.org/drawingml/2006/main">
            <a:off x="10858500" y="6381750"/>
            <a:ext cx="857250" cy="22860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r">
              <a:defRPr sz="975" b="1">
                <a:solidFill>
                  <a:srgbClr val="5F6D7F"/>
                </a:solidFill>
              </a:defRPr>
            </a:pPr>
            <a:r>
              <a:rPr sz="975" b="1">
                <a:solidFill>
                  <a:srgbClr val="5F6D7F"/>
                </a:solidFill>
              </a:rPr>
              <a:t>08</a:t>
            </a:r>
          </a:p>
        </p:txBody>
      </p:sp>
      <p:sp>
        <p:nvSpPr>
          <p:cNvPr id="5" name="">
            <a:extLst xmlns:a="http://schemas.openxmlformats.org/drawingml/2006/main">
              <a:ext uri="{FF2B5EF4-FFF2-40B4-BE49-F238E27FC236}">
                <a16:creationId xmlns:a16="http://schemas.microsoft.com/office/drawing/2014/main" id="{3E958FCB-8D01-4969-9D57-8EFC5D574DA8}"/>
              </a:ext>
            </a:extLst>
          </p:cNvPr>
          <p:cNvSpPr>
            <a:spLocks xmlns:a="http://schemas.openxmlformats.org/drawingml/2006/main" noGrp="1"/>
          </p:cNvSpPr>
          <p:nvPr/>
        </p:nvSpPr>
        <p:spPr>
          <a:xfrm xmlns:a="http://schemas.openxmlformats.org/drawingml/2006/main">
            <a:off x="666750" y="1762125"/>
            <a:ext cx="2476500" cy="371475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D8E1EB"/>
            </a:solidFill>
          </a:ln>
        </p:spPr>
      </p:sp>
      <p:sp>
        <p:nvSpPr>
          <p:cNvPr id="6" name="">
            <a:extLst xmlns:a="http://schemas.openxmlformats.org/drawingml/2006/main">
              <a:ext uri="{FF2B5EF4-FFF2-40B4-BE49-F238E27FC236}">
                <a16:creationId xmlns:a16="http://schemas.microsoft.com/office/drawing/2014/main" id="{355A1C48-0817-46B2-A01F-BD92FDFD870A}"/>
              </a:ext>
            </a:extLst>
          </p:cNvPr>
          <p:cNvSpPr>
            <a:spLocks xmlns:a="http://schemas.openxmlformats.org/drawingml/2006/main" noGrp="1"/>
          </p:cNvSpPr>
          <p:nvPr/>
        </p:nvSpPr>
        <p:spPr>
          <a:xfrm xmlns:a="http://schemas.openxmlformats.org/drawingml/2006/main">
            <a:off x="819150" y="1914525"/>
            <a:ext cx="114300" cy="3409950"/>
          </a:xfrm>
          <a:prstGeom xmlns:a="http://schemas.openxmlformats.org/drawingml/2006/main" prst="roundRect">
            <a:avLst>
              <a:gd name="adj" fmla="val 50000"/>
            </a:avLst>
          </a:prstGeom>
          <a:solidFill xmlns:a="http://schemas.openxmlformats.org/drawingml/2006/main">
            <a:srgbClr val="2DB7A3"/>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8CF9EB70-94A4-4EC0-8397-C221F19C3342}"/>
              </a:ext>
            </a:extLst>
          </p:cNvPr>
          <p:cNvSpPr>
            <a:spLocks xmlns:a="http://schemas.openxmlformats.org/drawingml/2006/main" noGrp="1"/>
          </p:cNvSpPr>
          <p:nvPr/>
        </p:nvSpPr>
        <p:spPr>
          <a:xfrm xmlns:a="http://schemas.openxmlformats.org/drawingml/2006/main">
            <a:off x="1047750" y="1933575"/>
            <a:ext cx="194310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1. Summary</a:t>
            </a:r>
          </a:p>
        </p:txBody>
      </p:sp>
      <p:sp>
        <p:nvSpPr>
          <p:cNvPr id="8" name="">
            <a:extLst xmlns:a="http://schemas.openxmlformats.org/drawingml/2006/main">
              <a:ext uri="{FF2B5EF4-FFF2-40B4-BE49-F238E27FC236}">
                <a16:creationId xmlns:a16="http://schemas.microsoft.com/office/drawing/2014/main" id="{89C99E8D-9004-4643-AF5B-3BC27E2B246F}"/>
              </a:ext>
            </a:extLst>
          </p:cNvPr>
          <p:cNvSpPr>
            <a:spLocks xmlns:a="http://schemas.openxmlformats.org/drawingml/2006/main" noGrp="1"/>
          </p:cNvSpPr>
          <p:nvPr/>
        </p:nvSpPr>
        <p:spPr>
          <a:xfrm xmlns:a="http://schemas.openxmlformats.org/drawingml/2006/main">
            <a:off x="1047750" y="2314575"/>
            <a:ext cx="1943100" cy="30289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The contract summary frames overall risk, counts of high/medium/low findings, and the fallback indicator.</a:t>
            </a:r>
          </a:p>
        </p:txBody>
      </p:sp>
      <p:sp>
        <p:nvSpPr>
          <p:cNvPr id="9" name="">
            <a:extLst xmlns:a="http://schemas.openxmlformats.org/drawingml/2006/main">
              <a:ext uri="{FF2B5EF4-FFF2-40B4-BE49-F238E27FC236}">
                <a16:creationId xmlns:a16="http://schemas.microsoft.com/office/drawing/2014/main" id="{4FFE216B-06A5-46BF-9E74-0611149BCF49}"/>
              </a:ext>
            </a:extLst>
          </p:cNvPr>
          <p:cNvSpPr>
            <a:spLocks xmlns:a="http://schemas.openxmlformats.org/drawingml/2006/main" noGrp="1"/>
          </p:cNvSpPr>
          <p:nvPr/>
        </p:nvSpPr>
        <p:spPr>
          <a:xfrm xmlns:a="http://schemas.openxmlformats.org/drawingml/2006/main">
            <a:off x="3429000" y="1762125"/>
            <a:ext cx="2476500" cy="371475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D8E1EB"/>
            </a:solidFill>
          </a:ln>
        </p:spPr>
      </p:sp>
      <p:sp>
        <p:nvSpPr>
          <p:cNvPr id="10" name="">
            <a:extLst xmlns:a="http://schemas.openxmlformats.org/drawingml/2006/main">
              <a:ext uri="{FF2B5EF4-FFF2-40B4-BE49-F238E27FC236}">
                <a16:creationId xmlns:a16="http://schemas.microsoft.com/office/drawing/2014/main" id="{F76EFF3D-A305-47BC-8E2D-68261A433D0E}"/>
              </a:ext>
            </a:extLst>
          </p:cNvPr>
          <p:cNvSpPr>
            <a:spLocks xmlns:a="http://schemas.openxmlformats.org/drawingml/2006/main" noGrp="1"/>
          </p:cNvSpPr>
          <p:nvPr/>
        </p:nvSpPr>
        <p:spPr>
          <a:xfrm xmlns:a="http://schemas.openxmlformats.org/drawingml/2006/main">
            <a:off x="3581400" y="1914525"/>
            <a:ext cx="114300" cy="3409950"/>
          </a:xfrm>
          <a:prstGeom xmlns:a="http://schemas.openxmlformats.org/drawingml/2006/main" prst="roundRect">
            <a:avLst>
              <a:gd name="adj" fmla="val 50000"/>
            </a:avLst>
          </a:prstGeom>
          <a:solidFill xmlns:a="http://schemas.openxmlformats.org/drawingml/2006/main">
            <a:srgbClr val="F0B35D"/>
          </a:solidFill>
          <a:ln xmlns:a="http://schemas.openxmlformats.org/drawingml/2006/main">
            <a:noFill/>
          </a:ln>
        </p:spPr>
      </p:sp>
      <p:sp>
        <p:nvSpPr>
          <p:cNvPr id="11" name="">
            <a:extLst xmlns:a="http://schemas.openxmlformats.org/drawingml/2006/main">
              <a:ext uri="{FF2B5EF4-FFF2-40B4-BE49-F238E27FC236}">
                <a16:creationId xmlns:a16="http://schemas.microsoft.com/office/drawing/2014/main" id="{40B38CB2-A7D8-42A6-BB9D-2D441E899C26}"/>
              </a:ext>
            </a:extLst>
          </p:cNvPr>
          <p:cNvSpPr>
            <a:spLocks xmlns:a="http://schemas.openxmlformats.org/drawingml/2006/main" noGrp="1"/>
          </p:cNvSpPr>
          <p:nvPr/>
        </p:nvSpPr>
        <p:spPr>
          <a:xfrm xmlns:a="http://schemas.openxmlformats.org/drawingml/2006/main">
            <a:off x="3810000" y="1933575"/>
            <a:ext cx="194310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2. Findings</a:t>
            </a:r>
          </a:p>
        </p:txBody>
      </p:sp>
      <p:sp>
        <p:nvSpPr>
          <p:cNvPr id="12" name="">
            <a:extLst xmlns:a="http://schemas.openxmlformats.org/drawingml/2006/main">
              <a:ext uri="{FF2B5EF4-FFF2-40B4-BE49-F238E27FC236}">
                <a16:creationId xmlns:a16="http://schemas.microsoft.com/office/drawing/2014/main" id="{279DC7B6-7B1D-4639-A89E-410125B2D7DC}"/>
              </a:ext>
            </a:extLst>
          </p:cNvPr>
          <p:cNvSpPr>
            <a:spLocks xmlns:a="http://schemas.openxmlformats.org/drawingml/2006/main" noGrp="1"/>
          </p:cNvSpPr>
          <p:nvPr/>
        </p:nvSpPr>
        <p:spPr>
          <a:xfrm xmlns:a="http://schemas.openxmlformats.org/drawingml/2006/main">
            <a:off x="3810000" y="2314575"/>
            <a:ext cx="1943100" cy="30289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Each clause gets a predicted type, severity, score, explanation, and mitigation note.</a:t>
            </a:r>
          </a:p>
        </p:txBody>
      </p:sp>
      <p:sp>
        <p:nvSpPr>
          <p:cNvPr id="13" name="">
            <a:extLst xmlns:a="http://schemas.openxmlformats.org/drawingml/2006/main">
              <a:ext uri="{FF2B5EF4-FFF2-40B4-BE49-F238E27FC236}">
                <a16:creationId xmlns:a16="http://schemas.microsoft.com/office/drawing/2014/main" id="{FC549148-87F5-4D4E-8266-012B9EC0C8E2}"/>
              </a:ext>
            </a:extLst>
          </p:cNvPr>
          <p:cNvSpPr>
            <a:spLocks xmlns:a="http://schemas.openxmlformats.org/drawingml/2006/main" noGrp="1"/>
          </p:cNvSpPr>
          <p:nvPr/>
        </p:nvSpPr>
        <p:spPr>
          <a:xfrm xmlns:a="http://schemas.openxmlformats.org/drawingml/2006/main">
            <a:off x="6191250" y="1762125"/>
            <a:ext cx="2476500" cy="371475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D8E1EB"/>
            </a:solidFill>
          </a:ln>
        </p:spPr>
      </p:sp>
      <p:sp>
        <p:nvSpPr>
          <p:cNvPr id="14" name="">
            <a:extLst xmlns:a="http://schemas.openxmlformats.org/drawingml/2006/main">
              <a:ext uri="{FF2B5EF4-FFF2-40B4-BE49-F238E27FC236}">
                <a16:creationId xmlns:a16="http://schemas.microsoft.com/office/drawing/2014/main" id="{94FB4AE1-51A9-4FF0-B63C-3639A4F6536D}"/>
              </a:ext>
            </a:extLst>
          </p:cNvPr>
          <p:cNvSpPr>
            <a:spLocks xmlns:a="http://schemas.openxmlformats.org/drawingml/2006/main" noGrp="1"/>
          </p:cNvSpPr>
          <p:nvPr/>
        </p:nvSpPr>
        <p:spPr>
          <a:xfrm xmlns:a="http://schemas.openxmlformats.org/drawingml/2006/main">
            <a:off x="6343650" y="1914525"/>
            <a:ext cx="114300" cy="3409950"/>
          </a:xfrm>
          <a:prstGeom xmlns:a="http://schemas.openxmlformats.org/drawingml/2006/main" prst="roundRect">
            <a:avLst>
              <a:gd name="adj" fmla="val 50000"/>
            </a:avLst>
          </a:prstGeom>
          <a:solidFill xmlns:a="http://schemas.openxmlformats.org/drawingml/2006/main">
            <a:srgbClr val="11263F"/>
          </a:solidFill>
          <a:ln xmlns:a="http://schemas.openxmlformats.org/drawingml/2006/main">
            <a:noFill/>
          </a:ln>
        </p:spPr>
      </p:sp>
      <p:sp>
        <p:nvSpPr>
          <p:cNvPr id="15" name="">
            <a:extLst xmlns:a="http://schemas.openxmlformats.org/drawingml/2006/main">
              <a:ext uri="{FF2B5EF4-FFF2-40B4-BE49-F238E27FC236}">
                <a16:creationId xmlns:a16="http://schemas.microsoft.com/office/drawing/2014/main" id="{884B1CAB-01F4-4FD2-9C74-B3F3BF716C58}"/>
              </a:ext>
            </a:extLst>
          </p:cNvPr>
          <p:cNvSpPr>
            <a:spLocks xmlns:a="http://schemas.openxmlformats.org/drawingml/2006/main" noGrp="1"/>
          </p:cNvSpPr>
          <p:nvPr/>
        </p:nvSpPr>
        <p:spPr>
          <a:xfrm xmlns:a="http://schemas.openxmlformats.org/drawingml/2006/main">
            <a:off x="6572250" y="1933575"/>
            <a:ext cx="194310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3. Evidence</a:t>
            </a:r>
          </a:p>
        </p:txBody>
      </p:sp>
      <p:sp>
        <p:nvSpPr>
          <p:cNvPr id="16" name="">
            <a:extLst xmlns:a="http://schemas.openxmlformats.org/drawingml/2006/main">
              <a:ext uri="{FF2B5EF4-FFF2-40B4-BE49-F238E27FC236}">
                <a16:creationId xmlns:a16="http://schemas.microsoft.com/office/drawing/2014/main" id="{87C15050-8842-486E-A110-18FC05C9BE52}"/>
              </a:ext>
            </a:extLst>
          </p:cNvPr>
          <p:cNvSpPr>
            <a:spLocks xmlns:a="http://schemas.openxmlformats.org/drawingml/2006/main" noGrp="1"/>
          </p:cNvSpPr>
          <p:nvPr/>
        </p:nvSpPr>
        <p:spPr>
          <a:xfrm xmlns:a="http://schemas.openxmlformats.org/drawingml/2006/main">
            <a:off x="6572250" y="2314575"/>
            <a:ext cx="1943100" cy="30289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Retrieved passages are attached only when the support threshold is met, which keeps the report grounded.</a:t>
            </a:r>
          </a:p>
        </p:txBody>
      </p:sp>
      <p:sp>
        <p:nvSpPr>
          <p:cNvPr id="17" name="">
            <a:extLst xmlns:a="http://schemas.openxmlformats.org/drawingml/2006/main">
              <a:ext uri="{FF2B5EF4-FFF2-40B4-BE49-F238E27FC236}">
                <a16:creationId xmlns:a16="http://schemas.microsoft.com/office/drawing/2014/main" id="{4BE86BAC-803B-42BD-BB08-075A5FD08F97}"/>
              </a:ext>
            </a:extLst>
          </p:cNvPr>
          <p:cNvSpPr>
            <a:spLocks xmlns:a="http://schemas.openxmlformats.org/drawingml/2006/main" noGrp="1"/>
          </p:cNvSpPr>
          <p:nvPr/>
        </p:nvSpPr>
        <p:spPr>
          <a:xfrm xmlns:a="http://schemas.openxmlformats.org/drawingml/2006/main">
            <a:off x="8953500" y="1762125"/>
            <a:ext cx="2571750" cy="3714750"/>
          </a:xfrm>
          <a:prstGeom xmlns:a="http://schemas.openxmlformats.org/drawingml/2006/main" prst="roundRect">
            <a:avLst>
              <a:gd name="adj" fmla="val 2963"/>
            </a:avLst>
          </a:prstGeom>
          <a:solidFill xmlns:a="http://schemas.openxmlformats.org/drawingml/2006/main">
            <a:srgbClr val="FFFFFF"/>
          </a:solidFill>
          <a:ln xmlns:a="http://schemas.openxmlformats.org/drawingml/2006/main" w="9525">
            <a:solidFill>
              <a:srgbClr val="D8E1EB"/>
            </a:solidFill>
          </a:ln>
        </p:spPr>
      </p:sp>
      <p:sp>
        <p:nvSpPr>
          <p:cNvPr id="18" name="">
            <a:extLst xmlns:a="http://schemas.openxmlformats.org/drawingml/2006/main">
              <a:ext uri="{FF2B5EF4-FFF2-40B4-BE49-F238E27FC236}">
                <a16:creationId xmlns:a16="http://schemas.microsoft.com/office/drawing/2014/main" id="{7DCBEC02-53E3-4987-BF9E-2029213ABA9F}"/>
              </a:ext>
            </a:extLst>
          </p:cNvPr>
          <p:cNvSpPr>
            <a:spLocks xmlns:a="http://schemas.openxmlformats.org/drawingml/2006/main" noGrp="1"/>
          </p:cNvSpPr>
          <p:nvPr/>
        </p:nvSpPr>
        <p:spPr>
          <a:xfrm xmlns:a="http://schemas.openxmlformats.org/drawingml/2006/main">
            <a:off x="9105900" y="1914525"/>
            <a:ext cx="114300" cy="3409950"/>
          </a:xfrm>
          <a:prstGeom xmlns:a="http://schemas.openxmlformats.org/drawingml/2006/main" prst="roundRect">
            <a:avLst>
              <a:gd name="adj" fmla="val 50000"/>
            </a:avLst>
          </a:prstGeom>
          <a:solidFill xmlns:a="http://schemas.openxmlformats.org/drawingml/2006/main">
            <a:srgbClr val="2DB7A3"/>
          </a:solidFill>
          <a:ln xmlns:a="http://schemas.openxmlformats.org/drawingml/2006/main">
            <a:noFill/>
          </a:ln>
        </p:spPr>
      </p:sp>
      <p:sp>
        <p:nvSpPr>
          <p:cNvPr id="19" name="">
            <a:extLst xmlns:a="http://schemas.openxmlformats.org/drawingml/2006/main">
              <a:ext uri="{FF2B5EF4-FFF2-40B4-BE49-F238E27FC236}">
                <a16:creationId xmlns:a16="http://schemas.microsoft.com/office/drawing/2014/main" id="{F6DA563B-1F76-46A5-A78F-36F554ABD09B}"/>
              </a:ext>
            </a:extLst>
          </p:cNvPr>
          <p:cNvSpPr>
            <a:spLocks xmlns:a="http://schemas.openxmlformats.org/drawingml/2006/main" noGrp="1"/>
          </p:cNvSpPr>
          <p:nvPr/>
        </p:nvSpPr>
        <p:spPr>
          <a:xfrm xmlns:a="http://schemas.openxmlformats.org/drawingml/2006/main">
            <a:off x="9334500" y="1933575"/>
            <a:ext cx="203835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4. Export</a:t>
            </a:r>
          </a:p>
        </p:txBody>
      </p:sp>
      <p:sp>
        <p:nvSpPr>
          <p:cNvPr id="20" name="">
            <a:extLst xmlns:a="http://schemas.openxmlformats.org/drawingml/2006/main">
              <a:ext uri="{FF2B5EF4-FFF2-40B4-BE49-F238E27FC236}">
                <a16:creationId xmlns:a16="http://schemas.microsoft.com/office/drawing/2014/main" id="{CB8B0725-475A-46A1-8630-7F8152D40429}"/>
              </a:ext>
            </a:extLst>
          </p:cNvPr>
          <p:cNvSpPr>
            <a:spLocks xmlns:a="http://schemas.openxmlformats.org/drawingml/2006/main" noGrp="1"/>
          </p:cNvSpPr>
          <p:nvPr/>
        </p:nvSpPr>
        <p:spPr>
          <a:xfrm xmlns:a="http://schemas.openxmlformats.org/drawingml/2006/main">
            <a:off x="9334500" y="2314575"/>
            <a:ext cx="2038350" cy="30289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The report is visible in the UI and also saved as a downloadable PDF for submission.</a:t>
            </a:r>
          </a:p>
        </p:txBody>
      </p:sp>
      <p:sp>
        <p:nvSpPr>
          <p:cNvPr id="21" name="">
            <a:extLst xmlns:a="http://schemas.openxmlformats.org/drawingml/2006/main">
              <a:ext uri="{FF2B5EF4-FFF2-40B4-BE49-F238E27FC236}">
                <a16:creationId xmlns:a16="http://schemas.microsoft.com/office/drawing/2014/main" id="{73B285E9-D40F-46D7-A6FE-F62BE51D46AA}"/>
              </a:ext>
            </a:extLst>
          </p:cNvPr>
          <p:cNvSpPr>
            <a:spLocks xmlns:a="http://schemas.openxmlformats.org/drawingml/2006/main" noGrp="1"/>
          </p:cNvSpPr>
          <p:nvPr/>
        </p:nvSpPr>
        <p:spPr>
          <a:xfrm xmlns:a="http://schemas.openxmlformats.org/drawingml/2006/main">
            <a:off x="1104900" y="5810250"/>
            <a:ext cx="1619250" cy="323850"/>
          </a:xfrm>
          <a:prstGeom xmlns:a="http://schemas.openxmlformats.org/drawingml/2006/main" prst="roundRect">
            <a:avLst>
              <a:gd name="adj" fmla="val 23529"/>
            </a:avLst>
          </a:prstGeom>
          <a:solidFill xmlns:a="http://schemas.openxmlformats.org/drawingml/2006/main">
            <a:srgbClr val="D9F5EF"/>
          </a:solidFill>
          <a:ln xmlns:a="http://schemas.openxmlformats.org/drawingml/2006/main">
            <a:noFill/>
          </a:ln>
        </p:spPr>
      </p:sp>
      <p:sp>
        <p:nvSpPr>
          <p:cNvPr id="22" name="">
            <a:extLst xmlns:a="http://schemas.openxmlformats.org/drawingml/2006/main">
              <a:ext uri="{FF2B5EF4-FFF2-40B4-BE49-F238E27FC236}">
                <a16:creationId xmlns:a16="http://schemas.microsoft.com/office/drawing/2014/main" id="{91849254-8C71-4B53-8EAF-E2FB168704D2}"/>
              </a:ext>
            </a:extLst>
          </p:cNvPr>
          <p:cNvSpPr>
            <a:spLocks xmlns:a="http://schemas.openxmlformats.org/drawingml/2006/main" noGrp="1"/>
          </p:cNvSpPr>
          <p:nvPr/>
        </p:nvSpPr>
        <p:spPr>
          <a:xfrm xmlns:a="http://schemas.openxmlformats.org/drawingml/2006/main">
            <a:off x="1219200" y="5867400"/>
            <a:ext cx="1390650" cy="209550"/>
          </a:xfrm>
          <a:prstGeom xmlns:a="http://schemas.openxmlformats.org/drawingml/2006/main" prst="rect">
            <a:avLst/>
          </a:prstGeom>
          <a:solidFill xmlns:a="http://schemas.openxmlformats.org/drawingml/2006/main">
            <a:srgbClr val="D9F5E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050" b="1">
                <a:solidFill>
                  <a:srgbClr val="152235"/>
                </a:solidFill>
              </a:defRPr>
            </a:pPr>
            <a:r>
              <a:rPr sz="1050" b="1">
                <a:solidFill>
                  <a:srgbClr val="152235"/>
                </a:solidFill>
              </a:rPr>
              <a:t>summary section</a:t>
            </a:r>
          </a:p>
        </p:txBody>
      </p:sp>
      <p:sp>
        <p:nvSpPr>
          <p:cNvPr id="23" name="">
            <a:extLst xmlns:a="http://schemas.openxmlformats.org/drawingml/2006/main">
              <a:ext uri="{FF2B5EF4-FFF2-40B4-BE49-F238E27FC236}">
                <a16:creationId xmlns:a16="http://schemas.microsoft.com/office/drawing/2014/main" id="{75CAA4C1-7D2D-4858-A535-49D65CA9A7C5}"/>
              </a:ext>
            </a:extLst>
          </p:cNvPr>
          <p:cNvSpPr>
            <a:spLocks xmlns:a="http://schemas.openxmlformats.org/drawingml/2006/main" noGrp="1"/>
          </p:cNvSpPr>
          <p:nvPr/>
        </p:nvSpPr>
        <p:spPr>
          <a:xfrm xmlns:a="http://schemas.openxmlformats.org/drawingml/2006/main">
            <a:off x="3876675" y="5810250"/>
            <a:ext cx="1333500" cy="323850"/>
          </a:xfrm>
          <a:prstGeom xmlns:a="http://schemas.openxmlformats.org/drawingml/2006/main" prst="roundRect">
            <a:avLst>
              <a:gd name="adj" fmla="val 23529"/>
            </a:avLst>
          </a:prstGeom>
          <a:solidFill xmlns:a="http://schemas.openxmlformats.org/drawingml/2006/main">
            <a:srgbClr val="FFF2DD"/>
          </a:solidFill>
          <a:ln xmlns:a="http://schemas.openxmlformats.org/drawingml/2006/main">
            <a:noFill/>
          </a:ln>
        </p:spPr>
      </p:sp>
      <p:sp>
        <p:nvSpPr>
          <p:cNvPr id="24" name="">
            <a:extLst xmlns:a="http://schemas.openxmlformats.org/drawingml/2006/main">
              <a:ext uri="{FF2B5EF4-FFF2-40B4-BE49-F238E27FC236}">
                <a16:creationId xmlns:a16="http://schemas.microsoft.com/office/drawing/2014/main" id="{E4D1BB9E-0395-4E12-947A-8CB3ABEF4020}"/>
              </a:ext>
            </a:extLst>
          </p:cNvPr>
          <p:cNvSpPr>
            <a:spLocks xmlns:a="http://schemas.openxmlformats.org/drawingml/2006/main" noGrp="1"/>
          </p:cNvSpPr>
          <p:nvPr/>
        </p:nvSpPr>
        <p:spPr>
          <a:xfrm xmlns:a="http://schemas.openxmlformats.org/drawingml/2006/main">
            <a:off x="3990975" y="5867400"/>
            <a:ext cx="1104900" cy="209550"/>
          </a:xfrm>
          <a:prstGeom xmlns:a="http://schemas.openxmlformats.org/drawingml/2006/main" prst="rect">
            <a:avLst/>
          </a:prstGeom>
          <a:solidFill xmlns:a="http://schemas.openxmlformats.org/drawingml/2006/main">
            <a:srgbClr val="FFF2DD"/>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050" b="1">
                <a:solidFill>
                  <a:srgbClr val="152235"/>
                </a:solidFill>
              </a:defRPr>
            </a:pPr>
            <a:r>
              <a:rPr sz="1050" b="1">
                <a:solidFill>
                  <a:srgbClr val="152235"/>
                </a:solidFill>
              </a:rPr>
              <a:t>risk findings</a:t>
            </a:r>
          </a:p>
        </p:txBody>
      </p:sp>
      <p:sp>
        <p:nvSpPr>
          <p:cNvPr id="25" name="">
            <a:extLst xmlns:a="http://schemas.openxmlformats.org/drawingml/2006/main">
              <a:ext uri="{FF2B5EF4-FFF2-40B4-BE49-F238E27FC236}">
                <a16:creationId xmlns:a16="http://schemas.microsoft.com/office/drawing/2014/main" id="{392AF9E5-7A5D-4F40-833A-862FD42F9AD6}"/>
              </a:ext>
            </a:extLst>
          </p:cNvPr>
          <p:cNvSpPr>
            <a:spLocks xmlns:a="http://schemas.openxmlformats.org/drawingml/2006/main" noGrp="1"/>
          </p:cNvSpPr>
          <p:nvPr/>
        </p:nvSpPr>
        <p:spPr>
          <a:xfrm xmlns:a="http://schemas.openxmlformats.org/drawingml/2006/main">
            <a:off x="6600825" y="5810250"/>
            <a:ext cx="1238250" cy="323850"/>
          </a:xfrm>
          <a:prstGeom xmlns:a="http://schemas.openxmlformats.org/drawingml/2006/main" prst="roundRect">
            <a:avLst>
              <a:gd name="adj" fmla="val 23529"/>
            </a:avLst>
          </a:prstGeom>
          <a:solidFill xmlns:a="http://schemas.openxmlformats.org/drawingml/2006/main">
            <a:srgbClr val="E8EFFB"/>
          </a:solidFill>
          <a:ln xmlns:a="http://schemas.openxmlformats.org/drawingml/2006/main">
            <a:noFill/>
          </a:ln>
        </p:spPr>
      </p:sp>
      <p:sp>
        <p:nvSpPr>
          <p:cNvPr id="26" name="">
            <a:extLst xmlns:a="http://schemas.openxmlformats.org/drawingml/2006/main">
              <a:ext uri="{FF2B5EF4-FFF2-40B4-BE49-F238E27FC236}">
                <a16:creationId xmlns:a16="http://schemas.microsoft.com/office/drawing/2014/main" id="{205DF4C2-B436-4151-A286-BEC3EE8F0AAD}"/>
              </a:ext>
            </a:extLst>
          </p:cNvPr>
          <p:cNvSpPr>
            <a:spLocks xmlns:a="http://schemas.openxmlformats.org/drawingml/2006/main" noGrp="1"/>
          </p:cNvSpPr>
          <p:nvPr/>
        </p:nvSpPr>
        <p:spPr>
          <a:xfrm xmlns:a="http://schemas.openxmlformats.org/drawingml/2006/main">
            <a:off x="6715125" y="5867400"/>
            <a:ext cx="1009650" cy="209550"/>
          </a:xfrm>
          <a:prstGeom xmlns:a="http://schemas.openxmlformats.org/drawingml/2006/main" prst="rect">
            <a:avLst/>
          </a:prstGeom>
          <a:solidFill xmlns:a="http://schemas.openxmlformats.org/drawingml/2006/main">
            <a:srgbClr val="E8EF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050" b="1">
                <a:solidFill>
                  <a:srgbClr val="152235"/>
                </a:solidFill>
              </a:defRPr>
            </a:pPr>
            <a:r>
              <a:rPr sz="1050" b="1">
                <a:solidFill>
                  <a:srgbClr val="152235"/>
                </a:solidFill>
              </a:rPr>
              <a:t>evidence</a:t>
            </a:r>
          </a:p>
        </p:txBody>
      </p:sp>
      <p:sp>
        <p:nvSpPr>
          <p:cNvPr id="27" name="">
            <a:extLst xmlns:a="http://schemas.openxmlformats.org/drawingml/2006/main">
              <a:ext uri="{FF2B5EF4-FFF2-40B4-BE49-F238E27FC236}">
                <a16:creationId xmlns:a16="http://schemas.microsoft.com/office/drawing/2014/main" id="{FDF0C1E3-473D-418E-8774-CDA39C65FB4E}"/>
              </a:ext>
            </a:extLst>
          </p:cNvPr>
          <p:cNvSpPr>
            <a:spLocks xmlns:a="http://schemas.openxmlformats.org/drawingml/2006/main" noGrp="1"/>
          </p:cNvSpPr>
          <p:nvPr/>
        </p:nvSpPr>
        <p:spPr>
          <a:xfrm xmlns:a="http://schemas.openxmlformats.org/drawingml/2006/main">
            <a:off x="9582150" y="5810250"/>
            <a:ext cx="1409700" cy="323850"/>
          </a:xfrm>
          <a:prstGeom xmlns:a="http://schemas.openxmlformats.org/drawingml/2006/main" prst="roundRect">
            <a:avLst>
              <a:gd name="adj" fmla="val 23529"/>
            </a:avLst>
          </a:prstGeom>
          <a:solidFill xmlns:a="http://schemas.openxmlformats.org/drawingml/2006/main">
            <a:srgbClr val="E8F7EB"/>
          </a:solidFill>
          <a:ln xmlns:a="http://schemas.openxmlformats.org/drawingml/2006/main">
            <a:noFill/>
          </a:ln>
        </p:spPr>
      </p:sp>
      <p:sp>
        <p:nvSpPr>
          <p:cNvPr id="28" name="">
            <a:extLst xmlns:a="http://schemas.openxmlformats.org/drawingml/2006/main">
              <a:ext uri="{FF2B5EF4-FFF2-40B4-BE49-F238E27FC236}">
                <a16:creationId xmlns:a16="http://schemas.microsoft.com/office/drawing/2014/main" id="{C891CC98-196C-4130-BD9B-448AA2CCA97D}"/>
              </a:ext>
            </a:extLst>
          </p:cNvPr>
          <p:cNvSpPr>
            <a:spLocks xmlns:a="http://schemas.openxmlformats.org/drawingml/2006/main" noGrp="1"/>
          </p:cNvSpPr>
          <p:nvPr/>
        </p:nvSpPr>
        <p:spPr>
          <a:xfrm xmlns:a="http://schemas.openxmlformats.org/drawingml/2006/main">
            <a:off x="9696450" y="5867400"/>
            <a:ext cx="1181100" cy="209550"/>
          </a:xfrm>
          <a:prstGeom xmlns:a="http://schemas.openxmlformats.org/drawingml/2006/main" prst="rect">
            <a:avLst/>
          </a:prstGeom>
          <a:solidFill xmlns:a="http://schemas.openxmlformats.org/drawingml/2006/main">
            <a:srgbClr val="E8F7E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050" b="1">
                <a:solidFill>
                  <a:srgbClr val="152235"/>
                </a:solidFill>
              </a:defRPr>
            </a:pPr>
            <a:r>
              <a:rPr sz="1050" b="1">
                <a:solidFill>
                  <a:srgbClr val="152235"/>
                </a:solidFill>
              </a:rPr>
              <a:t>PDF export</a:t>
            </a:r>
          </a:p>
        </p:txBody>
      </p:sp>
    </p:spTree>
    <p:extLst>
      <p:ext uri="{BB962C8B-B14F-4D97-AF65-F5344CB8AC3E}">
        <p14:creationId xmlns:p14="http://schemas.microsoft.com/office/powerpoint/2010/main" val="1393863637"/>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1DC8211-31E6-422C-BAFD-AE1891C45EE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7761931A-0CE0-4423-903B-E01596191AB7}"/>
              </a:ext>
            </a:extLst>
          </p:cNvPr>
          <p:cNvSpPr>
            <a:spLocks xmlns:a="http://schemas.openxmlformats.org/drawingml/2006/main" noGrp="1"/>
          </p:cNvSpPr>
          <p:nvPr/>
        </p:nvSpPr>
        <p:spPr>
          <a:xfrm xmlns:a="http://schemas.openxmlformats.org/drawingml/2006/main">
            <a:off x="666750" y="381000"/>
            <a:ext cx="9334500" cy="81915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2550" b="1">
                <a:solidFill>
                  <a:srgbClr val="152235"/>
                </a:solidFill>
              </a:defRPr>
            </a:pPr>
            <a:r>
              <a:rPr sz="2550" b="1">
                <a:solidFill>
                  <a:srgbClr val="152235"/>
                </a:solidFill>
              </a:rPr>
              <a:t>Comparison and validation</a:t>
            </a:r>
          </a:p>
        </p:txBody>
      </p:sp>
      <p:sp>
        <p:nvSpPr>
          <p:cNvPr id="3" name="">
            <a:extLst xmlns:a="http://schemas.openxmlformats.org/drawingml/2006/main">
              <a:ext uri="{FF2B5EF4-FFF2-40B4-BE49-F238E27FC236}">
                <a16:creationId xmlns:a16="http://schemas.microsoft.com/office/drawing/2014/main" id="{A24164F3-5C2B-44D2-BB78-09C3683A5DE4}"/>
              </a:ext>
            </a:extLst>
          </p:cNvPr>
          <p:cNvSpPr>
            <a:spLocks xmlns:a="http://schemas.openxmlformats.org/drawingml/2006/main" noGrp="1"/>
          </p:cNvSpPr>
          <p:nvPr/>
        </p:nvSpPr>
        <p:spPr>
          <a:xfrm xmlns:a="http://schemas.openxmlformats.org/drawingml/2006/main">
            <a:off x="666750" y="1066800"/>
            <a:ext cx="9334500" cy="40005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The release includes a small but complete validation story for the assistant and the host path.</a:t>
            </a:r>
          </a:p>
        </p:txBody>
      </p:sp>
      <p:sp>
        <p:nvSpPr>
          <p:cNvPr id="4" name="">
            <a:extLst xmlns:a="http://schemas.openxmlformats.org/drawingml/2006/main">
              <a:ext uri="{FF2B5EF4-FFF2-40B4-BE49-F238E27FC236}">
                <a16:creationId xmlns:a16="http://schemas.microsoft.com/office/drawing/2014/main" id="{D6E54181-F2A7-44FF-AFB3-91AC7278C645}"/>
              </a:ext>
            </a:extLst>
          </p:cNvPr>
          <p:cNvSpPr>
            <a:spLocks xmlns:a="http://schemas.openxmlformats.org/drawingml/2006/main" noGrp="1"/>
          </p:cNvSpPr>
          <p:nvPr/>
        </p:nvSpPr>
        <p:spPr>
          <a:xfrm xmlns:a="http://schemas.openxmlformats.org/drawingml/2006/main">
            <a:off x="10858500" y="6381750"/>
            <a:ext cx="857250" cy="228600"/>
          </a:xfrm>
          <a:prstGeom xmlns:a="http://schemas.openxmlformats.org/drawingml/2006/main" prst="rect">
            <a:avLst/>
          </a:prstGeom>
          <a:solidFill xmlns:a="http://schemas.openxmlformats.org/drawingml/2006/main">
            <a:srgbClr val="F7F9FC"/>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r">
              <a:defRPr sz="975" b="1">
                <a:solidFill>
                  <a:srgbClr val="5F6D7F"/>
                </a:solidFill>
              </a:defRPr>
            </a:pPr>
            <a:r>
              <a:rPr sz="975" b="1">
                <a:solidFill>
                  <a:srgbClr val="5F6D7F"/>
                </a:solidFill>
              </a:rPr>
              <a:t>09</a:t>
            </a:r>
          </a:p>
        </p:txBody>
      </p:sp>
      <p:sp>
        <p:nvSpPr>
          <p:cNvPr id="5" name="">
            <a:extLst xmlns:a="http://schemas.openxmlformats.org/drawingml/2006/main">
              <a:ext uri="{FF2B5EF4-FFF2-40B4-BE49-F238E27FC236}">
                <a16:creationId xmlns:a16="http://schemas.microsoft.com/office/drawing/2014/main" id="{B01ECEC0-CE88-430C-9595-A327FDD448AA}"/>
              </a:ext>
            </a:extLst>
          </p:cNvPr>
          <p:cNvSpPr>
            <a:spLocks xmlns:a="http://schemas.openxmlformats.org/drawingml/2006/main" noGrp="1"/>
          </p:cNvSpPr>
          <p:nvPr/>
        </p:nvSpPr>
        <p:spPr>
          <a:xfrm xmlns:a="http://schemas.openxmlformats.org/drawingml/2006/main">
            <a:off x="666750" y="1809750"/>
            <a:ext cx="34290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D8E1EB"/>
            </a:solidFill>
          </a:ln>
        </p:spPr>
      </p:sp>
      <p:sp>
        <p:nvSpPr>
          <p:cNvPr id="6" name="">
            <a:extLst xmlns:a="http://schemas.openxmlformats.org/drawingml/2006/main">
              <a:ext uri="{FF2B5EF4-FFF2-40B4-BE49-F238E27FC236}">
                <a16:creationId xmlns:a16="http://schemas.microsoft.com/office/drawing/2014/main" id="{323297FD-4398-4FAB-96F3-DD6FAD71D705}"/>
              </a:ext>
            </a:extLst>
          </p:cNvPr>
          <p:cNvSpPr>
            <a:spLocks xmlns:a="http://schemas.openxmlformats.org/drawingml/2006/main" noGrp="1"/>
          </p:cNvSpPr>
          <p:nvPr/>
        </p:nvSpPr>
        <p:spPr>
          <a:xfrm xmlns:a="http://schemas.openxmlformats.org/drawingml/2006/main">
            <a:off x="819150" y="1962150"/>
            <a:ext cx="114300" cy="2933700"/>
          </a:xfrm>
          <a:prstGeom xmlns:a="http://schemas.openxmlformats.org/drawingml/2006/main" prst="roundRect">
            <a:avLst>
              <a:gd name="adj" fmla="val 50000"/>
            </a:avLst>
          </a:prstGeom>
          <a:solidFill xmlns:a="http://schemas.openxmlformats.org/drawingml/2006/main">
            <a:srgbClr val="2DB7A3"/>
          </a:solidFill>
          <a:ln xmlns:a="http://schemas.openxmlformats.org/drawingml/2006/main">
            <a:noFill/>
          </a:ln>
        </p:spPr>
      </p:sp>
      <p:sp>
        <p:nvSpPr>
          <p:cNvPr id="7" name="">
            <a:extLst xmlns:a="http://schemas.openxmlformats.org/drawingml/2006/main">
              <a:ext uri="{FF2B5EF4-FFF2-40B4-BE49-F238E27FC236}">
                <a16:creationId xmlns:a16="http://schemas.microsoft.com/office/drawing/2014/main" id="{21B91413-5308-494F-8AD7-A0CF88DEBED7}"/>
              </a:ext>
            </a:extLst>
          </p:cNvPr>
          <p:cNvSpPr>
            <a:spLocks xmlns:a="http://schemas.openxmlformats.org/drawingml/2006/main" noGrp="1"/>
          </p:cNvSpPr>
          <p:nvPr/>
        </p:nvSpPr>
        <p:spPr>
          <a:xfrm xmlns:a="http://schemas.openxmlformats.org/drawingml/2006/main">
            <a:off x="1047750" y="1981200"/>
            <a:ext cx="289560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Multi-contract comparison</a:t>
            </a:r>
          </a:p>
        </p:txBody>
      </p:sp>
      <p:sp>
        <p:nvSpPr>
          <p:cNvPr id="8" name="">
            <a:extLst xmlns:a="http://schemas.openxmlformats.org/drawingml/2006/main">
              <a:ext uri="{FF2B5EF4-FFF2-40B4-BE49-F238E27FC236}">
                <a16:creationId xmlns:a16="http://schemas.microsoft.com/office/drawing/2014/main" id="{8D2BDD55-6EEE-4425-B634-DCE99288A2B1}"/>
              </a:ext>
            </a:extLst>
          </p:cNvPr>
          <p:cNvSpPr>
            <a:spLocks xmlns:a="http://schemas.openxmlformats.org/drawingml/2006/main" noGrp="1"/>
          </p:cNvSpPr>
          <p:nvPr/>
        </p:nvSpPr>
        <p:spPr>
          <a:xfrm xmlns:a="http://schemas.openxmlformats.org/drawingml/2006/main">
            <a:off x="1047750" y="2362200"/>
            <a:ext cx="2895600" cy="25527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The app compares multiple contracts and highlights repeated risk patterns rather than treating each file in isolation.</a:t>
            </a:r>
          </a:p>
        </p:txBody>
      </p:sp>
      <p:sp>
        <p:nvSpPr>
          <p:cNvPr id="9" name="">
            <a:extLst xmlns:a="http://schemas.openxmlformats.org/drawingml/2006/main">
              <a:ext uri="{FF2B5EF4-FFF2-40B4-BE49-F238E27FC236}">
                <a16:creationId xmlns:a16="http://schemas.microsoft.com/office/drawing/2014/main" id="{9AE5CB96-5FBA-46FA-97F0-A9E09AA70C95}"/>
              </a:ext>
            </a:extLst>
          </p:cNvPr>
          <p:cNvSpPr>
            <a:spLocks xmlns:a="http://schemas.openxmlformats.org/drawingml/2006/main" noGrp="1"/>
          </p:cNvSpPr>
          <p:nvPr/>
        </p:nvSpPr>
        <p:spPr>
          <a:xfrm xmlns:a="http://schemas.openxmlformats.org/drawingml/2006/main">
            <a:off x="1047750" y="2714625"/>
            <a:ext cx="2667000" cy="8763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350" b="0">
                <a:solidFill>
                  <a:srgbClr val="152235"/>
                </a:solidFill>
              </a:defRPr>
            </a:pPr>
            <a:r>
              <a:rPr sz="1350" b="0">
                <a:solidFill>
                  <a:srgbClr val="152235"/>
                </a:solidFill>
              </a:rPr>
              <a:t>• Shared risk pattern counts</a:t>
            </a:r>
          </a:p>
          <a:p xmlns:a="http://schemas.openxmlformats.org/drawingml/2006/main">
            <a:pPr algn="l">
              <a:defRPr sz="1350" b="0">
                <a:solidFill>
                  <a:srgbClr val="152235"/>
                </a:solidFill>
              </a:defRPr>
            </a:pPr>
            <a:r>
              <a:rPr sz="1350" b="0">
                <a:solidFill>
                  <a:srgbClr val="152235"/>
                </a:solidFill>
              </a:rPr>
              <a:t>• Per-contract summary table</a:t>
            </a:r>
          </a:p>
          <a:p xmlns:a="http://schemas.openxmlformats.org/drawingml/2006/main">
            <a:pPr algn="l">
              <a:defRPr sz="1350" b="0">
                <a:solidFill>
                  <a:srgbClr val="152235"/>
                </a:solidFill>
              </a:defRPr>
            </a:pPr>
            <a:r>
              <a:rPr sz="1350" b="0">
                <a:solidFill>
                  <a:srgbClr val="152235"/>
                </a:solidFill>
              </a:rPr>
              <a:t>• High-risk finding totals</a:t>
            </a:r>
          </a:p>
        </p:txBody>
      </p:sp>
      <p:sp>
        <p:nvSpPr>
          <p:cNvPr id="10" name="">
            <a:extLst xmlns:a="http://schemas.openxmlformats.org/drawingml/2006/main">
              <a:ext uri="{FF2B5EF4-FFF2-40B4-BE49-F238E27FC236}">
                <a16:creationId xmlns:a16="http://schemas.microsoft.com/office/drawing/2014/main" id="{78741BAD-9A49-4960-9714-E281DBAAB503}"/>
              </a:ext>
            </a:extLst>
          </p:cNvPr>
          <p:cNvSpPr>
            <a:spLocks xmlns:a="http://schemas.openxmlformats.org/drawingml/2006/main" noGrp="1"/>
          </p:cNvSpPr>
          <p:nvPr/>
        </p:nvSpPr>
        <p:spPr>
          <a:xfrm xmlns:a="http://schemas.openxmlformats.org/drawingml/2006/main">
            <a:off x="4429125" y="1809750"/>
            <a:ext cx="342900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D8E1EB"/>
            </a:solidFill>
          </a:ln>
        </p:spPr>
      </p:sp>
      <p:sp>
        <p:nvSpPr>
          <p:cNvPr id="11" name="">
            <a:extLst xmlns:a="http://schemas.openxmlformats.org/drawingml/2006/main">
              <a:ext uri="{FF2B5EF4-FFF2-40B4-BE49-F238E27FC236}">
                <a16:creationId xmlns:a16="http://schemas.microsoft.com/office/drawing/2014/main" id="{81D0A7D1-7D8D-4028-9C52-2AF47CCCA32B}"/>
              </a:ext>
            </a:extLst>
          </p:cNvPr>
          <p:cNvSpPr>
            <a:spLocks xmlns:a="http://schemas.openxmlformats.org/drawingml/2006/main" noGrp="1"/>
          </p:cNvSpPr>
          <p:nvPr/>
        </p:nvSpPr>
        <p:spPr>
          <a:xfrm xmlns:a="http://schemas.openxmlformats.org/drawingml/2006/main">
            <a:off x="4581525" y="1962150"/>
            <a:ext cx="114300" cy="2933700"/>
          </a:xfrm>
          <a:prstGeom xmlns:a="http://schemas.openxmlformats.org/drawingml/2006/main" prst="roundRect">
            <a:avLst>
              <a:gd name="adj" fmla="val 50000"/>
            </a:avLst>
          </a:prstGeom>
          <a:solidFill xmlns:a="http://schemas.openxmlformats.org/drawingml/2006/main">
            <a:srgbClr val="F0B35D"/>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71B335EF-F524-485E-BD23-61C0EF1D8CBF}"/>
              </a:ext>
            </a:extLst>
          </p:cNvPr>
          <p:cNvSpPr>
            <a:spLocks xmlns:a="http://schemas.openxmlformats.org/drawingml/2006/main" noGrp="1"/>
          </p:cNvSpPr>
          <p:nvPr/>
        </p:nvSpPr>
        <p:spPr>
          <a:xfrm xmlns:a="http://schemas.openxmlformats.org/drawingml/2006/main">
            <a:off x="4810125" y="1981200"/>
            <a:ext cx="289560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Smoke validation</a:t>
            </a:r>
          </a:p>
        </p:txBody>
      </p:sp>
      <p:sp>
        <p:nvSpPr>
          <p:cNvPr id="13" name="">
            <a:extLst xmlns:a="http://schemas.openxmlformats.org/drawingml/2006/main">
              <a:ext uri="{FF2B5EF4-FFF2-40B4-BE49-F238E27FC236}">
                <a16:creationId xmlns:a16="http://schemas.microsoft.com/office/drawing/2014/main" id="{83AB7C36-A321-4245-8AAC-A060CABC8B40}"/>
              </a:ext>
            </a:extLst>
          </p:cNvPr>
          <p:cNvSpPr>
            <a:spLocks xmlns:a="http://schemas.openxmlformats.org/drawingml/2006/main" noGrp="1"/>
          </p:cNvSpPr>
          <p:nvPr/>
        </p:nvSpPr>
        <p:spPr>
          <a:xfrm xmlns:a="http://schemas.openxmlformats.org/drawingml/2006/main">
            <a:off x="4810125" y="2362200"/>
            <a:ext cx="2895600" cy="25527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The final smoke test checks entrypoint imports, environment overrides, and cache-write fallback behavior.</a:t>
            </a:r>
          </a:p>
        </p:txBody>
      </p:sp>
      <p:sp>
        <p:nvSpPr>
          <p:cNvPr id="14" name="">
            <a:extLst xmlns:a="http://schemas.openxmlformats.org/drawingml/2006/main">
              <a:ext uri="{FF2B5EF4-FFF2-40B4-BE49-F238E27FC236}">
                <a16:creationId xmlns:a16="http://schemas.microsoft.com/office/drawing/2014/main" id="{7D3A7FD1-2F8D-4255-8751-5B27AD3C529F}"/>
              </a:ext>
            </a:extLst>
          </p:cNvPr>
          <p:cNvSpPr>
            <a:spLocks xmlns:a="http://schemas.openxmlformats.org/drawingml/2006/main" noGrp="1"/>
          </p:cNvSpPr>
          <p:nvPr/>
        </p:nvSpPr>
        <p:spPr>
          <a:xfrm xmlns:a="http://schemas.openxmlformats.org/drawingml/2006/main">
            <a:off x="4810125" y="2714625"/>
            <a:ext cx="2667000" cy="8763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350" b="0">
                <a:solidFill>
                  <a:srgbClr val="152235"/>
                </a:solidFill>
              </a:defRPr>
            </a:pPr>
            <a:r>
              <a:rPr sz="1350" b="0">
                <a:solidFill>
                  <a:srgbClr val="152235"/>
                </a:solidFill>
              </a:rPr>
              <a:t>• Import the hosted entrypoints</a:t>
            </a:r>
          </a:p>
          <a:p xmlns:a="http://schemas.openxmlformats.org/drawingml/2006/main">
            <a:pPr algn="l">
              <a:defRPr sz="1350" b="0">
                <a:solidFill>
                  <a:srgbClr val="152235"/>
                </a:solidFill>
              </a:defRPr>
            </a:pPr>
            <a:r>
              <a:rPr sz="1350" b="0">
                <a:solidFill>
                  <a:srgbClr val="152235"/>
                </a:solidFill>
              </a:rPr>
              <a:t>• Resolve config overrides</a:t>
            </a:r>
          </a:p>
          <a:p xmlns:a="http://schemas.openxmlformats.org/drawingml/2006/main">
            <a:pPr algn="l">
              <a:defRPr sz="1350" b="0">
                <a:solidFill>
                  <a:srgbClr val="152235"/>
                </a:solidFill>
              </a:defRPr>
            </a:pPr>
            <a:r>
              <a:rPr sz="1350" b="0">
                <a:solidFill>
                  <a:srgbClr val="152235"/>
                </a:solidFill>
              </a:rPr>
              <a:t>• Continue when save fails</a:t>
            </a:r>
          </a:p>
        </p:txBody>
      </p:sp>
      <p:sp>
        <p:nvSpPr>
          <p:cNvPr id="15" name="">
            <a:extLst xmlns:a="http://schemas.openxmlformats.org/drawingml/2006/main">
              <a:ext uri="{FF2B5EF4-FFF2-40B4-BE49-F238E27FC236}">
                <a16:creationId xmlns:a16="http://schemas.microsoft.com/office/drawing/2014/main" id="{268F59D7-7B6D-491C-967E-71AFBC80A96C}"/>
              </a:ext>
            </a:extLst>
          </p:cNvPr>
          <p:cNvSpPr>
            <a:spLocks xmlns:a="http://schemas.openxmlformats.org/drawingml/2006/main" noGrp="1"/>
          </p:cNvSpPr>
          <p:nvPr/>
        </p:nvSpPr>
        <p:spPr>
          <a:xfrm xmlns:a="http://schemas.openxmlformats.org/drawingml/2006/main">
            <a:off x="8191500" y="1809750"/>
            <a:ext cx="3333750" cy="3238500"/>
          </a:xfrm>
          <a:prstGeom xmlns:a="http://schemas.openxmlformats.org/drawingml/2006/main" prst="roundRect">
            <a:avLst>
              <a:gd name="adj" fmla="val 2353"/>
            </a:avLst>
          </a:prstGeom>
          <a:solidFill xmlns:a="http://schemas.openxmlformats.org/drawingml/2006/main">
            <a:srgbClr val="FFFFFF"/>
          </a:solidFill>
          <a:ln xmlns:a="http://schemas.openxmlformats.org/drawingml/2006/main" w="9525">
            <a:solidFill>
              <a:srgbClr val="D8E1EB"/>
            </a:solidFill>
          </a:ln>
        </p:spPr>
      </p:sp>
      <p:sp>
        <p:nvSpPr>
          <p:cNvPr id="16" name="">
            <a:extLst xmlns:a="http://schemas.openxmlformats.org/drawingml/2006/main">
              <a:ext uri="{FF2B5EF4-FFF2-40B4-BE49-F238E27FC236}">
                <a16:creationId xmlns:a16="http://schemas.microsoft.com/office/drawing/2014/main" id="{F6B9ABD9-1BA8-4E3C-8345-E1BA52783798}"/>
              </a:ext>
            </a:extLst>
          </p:cNvPr>
          <p:cNvSpPr>
            <a:spLocks xmlns:a="http://schemas.openxmlformats.org/drawingml/2006/main" noGrp="1"/>
          </p:cNvSpPr>
          <p:nvPr/>
        </p:nvSpPr>
        <p:spPr>
          <a:xfrm xmlns:a="http://schemas.openxmlformats.org/drawingml/2006/main">
            <a:off x="8343900" y="1962150"/>
            <a:ext cx="114300" cy="2933700"/>
          </a:xfrm>
          <a:prstGeom xmlns:a="http://schemas.openxmlformats.org/drawingml/2006/main" prst="roundRect">
            <a:avLst>
              <a:gd name="adj" fmla="val 50000"/>
            </a:avLst>
          </a:prstGeom>
          <a:solidFill xmlns:a="http://schemas.openxmlformats.org/drawingml/2006/main">
            <a:srgbClr val="11263F"/>
          </a:solidFill>
          <a:ln xmlns:a="http://schemas.openxmlformats.org/drawingml/2006/main">
            <a:noFill/>
          </a:ln>
        </p:spPr>
      </p:sp>
      <p:sp>
        <p:nvSpPr>
          <p:cNvPr id="17" name="">
            <a:extLst xmlns:a="http://schemas.openxmlformats.org/drawingml/2006/main">
              <a:ext uri="{FF2B5EF4-FFF2-40B4-BE49-F238E27FC236}">
                <a16:creationId xmlns:a16="http://schemas.microsoft.com/office/drawing/2014/main" id="{400068A9-945D-4A1B-8363-CC07D121ECB1}"/>
              </a:ext>
            </a:extLst>
          </p:cNvPr>
          <p:cNvSpPr>
            <a:spLocks xmlns:a="http://schemas.openxmlformats.org/drawingml/2006/main" noGrp="1"/>
          </p:cNvSpPr>
          <p:nvPr/>
        </p:nvSpPr>
        <p:spPr>
          <a:xfrm xmlns:a="http://schemas.openxmlformats.org/drawingml/2006/main">
            <a:off x="8572500" y="1981200"/>
            <a:ext cx="2800350" cy="3238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152235"/>
                </a:solidFill>
              </a:defRPr>
            </a:pPr>
            <a:r>
              <a:rPr sz="1650" b="1">
                <a:solidFill>
                  <a:srgbClr val="152235"/>
                </a:solidFill>
              </a:rPr>
              <a:t>Host checks</a:t>
            </a:r>
          </a:p>
        </p:txBody>
      </p:sp>
      <p:sp>
        <p:nvSpPr>
          <p:cNvPr id="18" name="">
            <a:extLst xmlns:a="http://schemas.openxmlformats.org/drawingml/2006/main">
              <a:ext uri="{FF2B5EF4-FFF2-40B4-BE49-F238E27FC236}">
                <a16:creationId xmlns:a16="http://schemas.microsoft.com/office/drawing/2014/main" id="{9DBEC0C1-A09A-455B-B399-8F2173249F29}"/>
              </a:ext>
            </a:extLst>
          </p:cNvPr>
          <p:cNvSpPr>
            <a:spLocks xmlns:a="http://schemas.openxmlformats.org/drawingml/2006/main" noGrp="1"/>
          </p:cNvSpPr>
          <p:nvPr/>
        </p:nvSpPr>
        <p:spPr>
          <a:xfrm xmlns:a="http://schemas.openxmlformats.org/drawingml/2006/main">
            <a:off x="8572500" y="2362200"/>
            <a:ext cx="2800350" cy="25527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Deployment settings are documented for Streamlit Cloud, Hugging Face Spaces, and Render, with a single startup path.</a:t>
            </a:r>
          </a:p>
        </p:txBody>
      </p:sp>
      <p:sp>
        <p:nvSpPr>
          <p:cNvPr id="19" name="">
            <a:extLst xmlns:a="http://schemas.openxmlformats.org/drawingml/2006/main">
              <a:ext uri="{FF2B5EF4-FFF2-40B4-BE49-F238E27FC236}">
                <a16:creationId xmlns:a16="http://schemas.microsoft.com/office/drawing/2014/main" id="{79845D92-406F-4FD3-8F4B-2EA023862095}"/>
              </a:ext>
            </a:extLst>
          </p:cNvPr>
          <p:cNvSpPr>
            <a:spLocks xmlns:a="http://schemas.openxmlformats.org/drawingml/2006/main" noGrp="1"/>
          </p:cNvSpPr>
          <p:nvPr/>
        </p:nvSpPr>
        <p:spPr>
          <a:xfrm xmlns:a="http://schemas.openxmlformats.org/drawingml/2006/main">
            <a:off x="8572500" y="2714625"/>
            <a:ext cx="2476500" cy="8763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350" b="0">
                <a:solidFill>
                  <a:srgbClr val="152235"/>
                </a:solidFill>
              </a:defRPr>
            </a:pPr>
            <a:r>
              <a:rPr sz="1350" b="0">
                <a:solidFill>
                  <a:srgbClr val="152235"/>
                </a:solidFill>
              </a:rPr>
              <a:t>• streamlit_app.py</a:t>
            </a:r>
          </a:p>
          <a:p xmlns:a="http://schemas.openxmlformats.org/drawingml/2006/main">
            <a:pPr algn="l">
              <a:defRPr sz="1350" b="0">
                <a:solidFill>
                  <a:srgbClr val="152235"/>
                </a:solidFill>
              </a:defRPr>
            </a:pPr>
            <a:r>
              <a:rPr sz="1350" b="0">
                <a:solidFill>
                  <a:srgbClr val="152235"/>
                </a:solidFill>
              </a:rPr>
              <a:t>• .streamlit/config.toml</a:t>
            </a:r>
          </a:p>
          <a:p xmlns:a="http://schemas.openxmlformats.org/drawingml/2006/main">
            <a:pPr algn="l">
              <a:defRPr sz="1350" b="0">
                <a:solidFill>
                  <a:srgbClr val="152235"/>
                </a:solidFill>
              </a:defRPr>
            </a:pPr>
            <a:r>
              <a:rPr sz="1350" b="0">
                <a:solidFill>
                  <a:srgbClr val="152235"/>
                </a:solidFill>
              </a:rPr>
              <a:t>• Procfile / render.yaml</a:t>
            </a:r>
          </a:p>
        </p:txBody>
      </p:sp>
      <p:sp>
        <p:nvSpPr>
          <p:cNvPr id="20" name="">
            <a:extLst xmlns:a="http://schemas.openxmlformats.org/drawingml/2006/main">
              <a:ext uri="{FF2B5EF4-FFF2-40B4-BE49-F238E27FC236}">
                <a16:creationId xmlns:a16="http://schemas.microsoft.com/office/drawing/2014/main" id="{B0EB991E-9E13-4A28-912D-77DF5F07F4B7}"/>
              </a:ext>
            </a:extLst>
          </p:cNvPr>
          <p:cNvSpPr>
            <a:spLocks xmlns:a="http://schemas.openxmlformats.org/drawingml/2006/main" noGrp="1"/>
          </p:cNvSpPr>
          <p:nvPr/>
        </p:nvSpPr>
        <p:spPr>
          <a:xfrm xmlns:a="http://schemas.openxmlformats.org/drawingml/2006/main">
            <a:off x="857250" y="5429250"/>
            <a:ext cx="2238375" cy="952500"/>
          </a:xfrm>
          <a:prstGeom xmlns:a="http://schemas.openxmlformats.org/drawingml/2006/main" prst="roundRect">
            <a:avLst>
              <a:gd name="adj" fmla="val 8000"/>
            </a:avLst>
          </a:prstGeom>
          <a:solidFill xmlns:a="http://schemas.openxmlformats.org/drawingml/2006/main">
            <a:srgbClr val="D9F5EF"/>
          </a:solidFill>
          <a:ln xmlns:a="http://schemas.openxmlformats.org/drawingml/2006/main" w="9525">
            <a:noFill/>
          </a:ln>
        </p:spPr>
      </p:sp>
      <p:sp>
        <p:nvSpPr>
          <p:cNvPr id="21" name="">
            <a:extLst xmlns:a="http://schemas.openxmlformats.org/drawingml/2006/main">
              <a:ext uri="{FF2B5EF4-FFF2-40B4-BE49-F238E27FC236}">
                <a16:creationId xmlns:a16="http://schemas.microsoft.com/office/drawing/2014/main" id="{E860C5FC-4474-42D8-BCE9-3527C56EAA20}"/>
              </a:ext>
            </a:extLst>
          </p:cNvPr>
          <p:cNvSpPr>
            <a:spLocks xmlns:a="http://schemas.openxmlformats.org/drawingml/2006/main" noGrp="1"/>
          </p:cNvSpPr>
          <p:nvPr/>
        </p:nvSpPr>
        <p:spPr>
          <a:xfrm xmlns:a="http://schemas.openxmlformats.org/drawingml/2006/main">
            <a:off x="1047750" y="5581650"/>
            <a:ext cx="1857375" cy="533400"/>
          </a:xfrm>
          <a:prstGeom xmlns:a="http://schemas.openxmlformats.org/drawingml/2006/main" prst="rect">
            <a:avLst/>
          </a:prstGeom>
          <a:solidFill xmlns:a="http://schemas.openxmlformats.org/drawingml/2006/main">
            <a:srgbClr val="D9F5E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2550" b="1">
                <a:solidFill>
                  <a:srgbClr val="152235"/>
                </a:solidFill>
              </a:defRPr>
            </a:pPr>
            <a:r>
              <a:rPr sz="2550" b="1">
                <a:solidFill>
                  <a:srgbClr val="152235"/>
                </a:solidFill>
              </a:rPr>
              <a:t>46</a:t>
            </a:r>
          </a:p>
        </p:txBody>
      </p:sp>
      <p:sp>
        <p:nvSpPr>
          <p:cNvPr id="22" name="">
            <a:extLst xmlns:a="http://schemas.openxmlformats.org/drawingml/2006/main">
              <a:ext uri="{FF2B5EF4-FFF2-40B4-BE49-F238E27FC236}">
                <a16:creationId xmlns:a16="http://schemas.microsoft.com/office/drawing/2014/main" id="{78242EDB-1AC9-476E-AE79-4C30EBA31CAB}"/>
              </a:ext>
            </a:extLst>
          </p:cNvPr>
          <p:cNvSpPr>
            <a:spLocks xmlns:a="http://schemas.openxmlformats.org/drawingml/2006/main" noGrp="1"/>
          </p:cNvSpPr>
          <p:nvPr/>
        </p:nvSpPr>
        <p:spPr>
          <a:xfrm xmlns:a="http://schemas.openxmlformats.org/drawingml/2006/main">
            <a:off x="1009650" y="6134100"/>
            <a:ext cx="1933575" cy="457200"/>
          </a:xfrm>
          <a:prstGeom xmlns:a="http://schemas.openxmlformats.org/drawingml/2006/main" prst="rect">
            <a:avLst/>
          </a:prstGeom>
          <a:solidFill xmlns:a="http://schemas.openxmlformats.org/drawingml/2006/main">
            <a:srgbClr val="D9F5EF"/>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200" b="1">
                <a:solidFill>
                  <a:srgbClr val="5F6D7F"/>
                </a:solidFill>
              </a:defRPr>
            </a:pPr>
            <a:r>
              <a:rPr sz="1200" b="1">
                <a:solidFill>
                  <a:srgbClr val="5F6D7F"/>
                </a:solidFill>
              </a:rPr>
              <a:t>unit tests passing</a:t>
            </a:r>
          </a:p>
        </p:txBody>
      </p:sp>
      <p:sp>
        <p:nvSpPr>
          <p:cNvPr id="23" name="">
            <a:extLst xmlns:a="http://schemas.openxmlformats.org/drawingml/2006/main">
              <a:ext uri="{FF2B5EF4-FFF2-40B4-BE49-F238E27FC236}">
                <a16:creationId xmlns:a16="http://schemas.microsoft.com/office/drawing/2014/main" id="{5AE262C9-D488-4919-85CE-8A11C2A264FD}"/>
              </a:ext>
            </a:extLst>
          </p:cNvPr>
          <p:cNvSpPr>
            <a:spLocks xmlns:a="http://schemas.openxmlformats.org/drawingml/2006/main" noGrp="1"/>
          </p:cNvSpPr>
          <p:nvPr/>
        </p:nvSpPr>
        <p:spPr>
          <a:xfrm xmlns:a="http://schemas.openxmlformats.org/drawingml/2006/main">
            <a:off x="3333750" y="5429250"/>
            <a:ext cx="2238375" cy="952500"/>
          </a:xfrm>
          <a:prstGeom xmlns:a="http://schemas.openxmlformats.org/drawingml/2006/main" prst="roundRect">
            <a:avLst>
              <a:gd name="adj" fmla="val 8000"/>
            </a:avLst>
          </a:prstGeom>
          <a:solidFill xmlns:a="http://schemas.openxmlformats.org/drawingml/2006/main">
            <a:srgbClr val="FFF2DD"/>
          </a:solidFill>
          <a:ln xmlns:a="http://schemas.openxmlformats.org/drawingml/2006/main" w="9525">
            <a:noFill/>
          </a:ln>
        </p:spPr>
      </p:sp>
      <p:sp>
        <p:nvSpPr>
          <p:cNvPr id="24" name="">
            <a:extLst xmlns:a="http://schemas.openxmlformats.org/drawingml/2006/main">
              <a:ext uri="{FF2B5EF4-FFF2-40B4-BE49-F238E27FC236}">
                <a16:creationId xmlns:a16="http://schemas.microsoft.com/office/drawing/2014/main" id="{E5003CBC-8986-4583-8A67-1B88ACB95CA7}"/>
              </a:ext>
            </a:extLst>
          </p:cNvPr>
          <p:cNvSpPr>
            <a:spLocks xmlns:a="http://schemas.openxmlformats.org/drawingml/2006/main" noGrp="1"/>
          </p:cNvSpPr>
          <p:nvPr/>
        </p:nvSpPr>
        <p:spPr>
          <a:xfrm xmlns:a="http://schemas.openxmlformats.org/drawingml/2006/main">
            <a:off x="3524250" y="5581650"/>
            <a:ext cx="1857375" cy="533400"/>
          </a:xfrm>
          <a:prstGeom xmlns:a="http://schemas.openxmlformats.org/drawingml/2006/main" prst="rect">
            <a:avLst/>
          </a:prstGeom>
          <a:solidFill xmlns:a="http://schemas.openxmlformats.org/drawingml/2006/main">
            <a:srgbClr val="FFF2DD"/>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2550" b="1">
                <a:solidFill>
                  <a:srgbClr val="152235"/>
                </a:solidFill>
              </a:defRPr>
            </a:pPr>
            <a:r>
              <a:rPr sz="2550" b="1">
                <a:solidFill>
                  <a:srgbClr val="152235"/>
                </a:solidFill>
              </a:rPr>
              <a:t>3</a:t>
            </a:r>
          </a:p>
        </p:txBody>
      </p:sp>
      <p:sp>
        <p:nvSpPr>
          <p:cNvPr id="25" name="">
            <a:extLst xmlns:a="http://schemas.openxmlformats.org/drawingml/2006/main">
              <a:ext uri="{FF2B5EF4-FFF2-40B4-BE49-F238E27FC236}">
                <a16:creationId xmlns:a16="http://schemas.microsoft.com/office/drawing/2014/main" id="{D0C8F3CA-85D2-4657-AA42-44FE83C376D2}"/>
              </a:ext>
            </a:extLst>
          </p:cNvPr>
          <p:cNvSpPr>
            <a:spLocks xmlns:a="http://schemas.openxmlformats.org/drawingml/2006/main" noGrp="1"/>
          </p:cNvSpPr>
          <p:nvPr/>
        </p:nvSpPr>
        <p:spPr>
          <a:xfrm xmlns:a="http://schemas.openxmlformats.org/drawingml/2006/main">
            <a:off x="3486150" y="6134100"/>
            <a:ext cx="1933575" cy="457200"/>
          </a:xfrm>
          <a:prstGeom xmlns:a="http://schemas.openxmlformats.org/drawingml/2006/main" prst="rect">
            <a:avLst/>
          </a:prstGeom>
          <a:solidFill xmlns:a="http://schemas.openxmlformats.org/drawingml/2006/main">
            <a:srgbClr val="FFF2DD"/>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200" b="1">
                <a:solidFill>
                  <a:srgbClr val="5F6D7F"/>
                </a:solidFill>
              </a:defRPr>
            </a:pPr>
            <a:r>
              <a:rPr sz="1200" b="1">
                <a:solidFill>
                  <a:srgbClr val="5F6D7F"/>
                </a:solidFill>
              </a:rPr>
              <a:t>smoke checks</a:t>
            </a:r>
          </a:p>
        </p:txBody>
      </p:sp>
      <p:sp>
        <p:nvSpPr>
          <p:cNvPr id="26" name="">
            <a:extLst xmlns:a="http://schemas.openxmlformats.org/drawingml/2006/main">
              <a:ext uri="{FF2B5EF4-FFF2-40B4-BE49-F238E27FC236}">
                <a16:creationId xmlns:a16="http://schemas.microsoft.com/office/drawing/2014/main" id="{DA1DCAB2-090C-490A-81D9-0E90FE856E44}"/>
              </a:ext>
            </a:extLst>
          </p:cNvPr>
          <p:cNvSpPr>
            <a:spLocks xmlns:a="http://schemas.openxmlformats.org/drawingml/2006/main" noGrp="1"/>
          </p:cNvSpPr>
          <p:nvPr/>
        </p:nvSpPr>
        <p:spPr>
          <a:xfrm xmlns:a="http://schemas.openxmlformats.org/drawingml/2006/main">
            <a:off x="5810250" y="5429250"/>
            <a:ext cx="2238375" cy="952500"/>
          </a:xfrm>
          <a:prstGeom xmlns:a="http://schemas.openxmlformats.org/drawingml/2006/main" prst="roundRect">
            <a:avLst>
              <a:gd name="adj" fmla="val 8000"/>
            </a:avLst>
          </a:prstGeom>
          <a:solidFill xmlns:a="http://schemas.openxmlformats.org/drawingml/2006/main">
            <a:srgbClr val="E8EFFB"/>
          </a:solidFill>
          <a:ln xmlns:a="http://schemas.openxmlformats.org/drawingml/2006/main" w="9525">
            <a:noFill/>
          </a:ln>
        </p:spPr>
      </p:sp>
      <p:sp>
        <p:nvSpPr>
          <p:cNvPr id="27" name="">
            <a:extLst xmlns:a="http://schemas.openxmlformats.org/drawingml/2006/main">
              <a:ext uri="{FF2B5EF4-FFF2-40B4-BE49-F238E27FC236}">
                <a16:creationId xmlns:a16="http://schemas.microsoft.com/office/drawing/2014/main" id="{8BDC1C5D-6F42-44DE-9072-5FE686D7B401}"/>
              </a:ext>
            </a:extLst>
          </p:cNvPr>
          <p:cNvSpPr>
            <a:spLocks xmlns:a="http://schemas.openxmlformats.org/drawingml/2006/main" noGrp="1"/>
          </p:cNvSpPr>
          <p:nvPr/>
        </p:nvSpPr>
        <p:spPr>
          <a:xfrm xmlns:a="http://schemas.openxmlformats.org/drawingml/2006/main">
            <a:off x="6000750" y="5581650"/>
            <a:ext cx="1857375" cy="533400"/>
          </a:xfrm>
          <a:prstGeom xmlns:a="http://schemas.openxmlformats.org/drawingml/2006/main" prst="rect">
            <a:avLst/>
          </a:prstGeom>
          <a:solidFill xmlns:a="http://schemas.openxmlformats.org/drawingml/2006/main">
            <a:srgbClr val="E8EF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2550" b="1">
                <a:solidFill>
                  <a:srgbClr val="152235"/>
                </a:solidFill>
              </a:defRPr>
            </a:pPr>
            <a:r>
              <a:rPr sz="2550" b="1">
                <a:solidFill>
                  <a:srgbClr val="152235"/>
                </a:solidFill>
              </a:rPr>
              <a:t>10</a:t>
            </a:r>
          </a:p>
        </p:txBody>
      </p:sp>
      <p:sp>
        <p:nvSpPr>
          <p:cNvPr id="28" name="">
            <a:extLst xmlns:a="http://schemas.openxmlformats.org/drawingml/2006/main">
              <a:ext uri="{FF2B5EF4-FFF2-40B4-BE49-F238E27FC236}">
                <a16:creationId xmlns:a16="http://schemas.microsoft.com/office/drawing/2014/main" id="{360615A6-E83E-43B2-9B7B-1AB960869DE8}"/>
              </a:ext>
            </a:extLst>
          </p:cNvPr>
          <p:cNvSpPr>
            <a:spLocks xmlns:a="http://schemas.openxmlformats.org/drawingml/2006/main" noGrp="1"/>
          </p:cNvSpPr>
          <p:nvPr/>
        </p:nvSpPr>
        <p:spPr>
          <a:xfrm xmlns:a="http://schemas.openxmlformats.org/drawingml/2006/main">
            <a:off x="5962650" y="6134100"/>
            <a:ext cx="1933575" cy="457200"/>
          </a:xfrm>
          <a:prstGeom xmlns:a="http://schemas.openxmlformats.org/drawingml/2006/main" prst="rect">
            <a:avLst/>
          </a:prstGeom>
          <a:solidFill xmlns:a="http://schemas.openxmlformats.org/drawingml/2006/main">
            <a:srgbClr val="E8EFF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200" b="1">
                <a:solidFill>
                  <a:srgbClr val="5F6D7F"/>
                </a:solidFill>
              </a:defRPr>
            </a:pPr>
            <a:r>
              <a:rPr sz="1200" b="1">
                <a:solidFill>
                  <a:srgbClr val="5F6D7F"/>
                </a:solidFill>
              </a:rPr>
              <a:t>slides in final deck</a:t>
            </a:r>
          </a:p>
        </p:txBody>
      </p:sp>
      <p:sp>
        <p:nvSpPr>
          <p:cNvPr id="29" name="">
            <a:extLst xmlns:a="http://schemas.openxmlformats.org/drawingml/2006/main">
              <a:ext uri="{FF2B5EF4-FFF2-40B4-BE49-F238E27FC236}">
                <a16:creationId xmlns:a16="http://schemas.microsoft.com/office/drawing/2014/main" id="{17779B42-F035-4256-A116-989BAD635BFE}"/>
              </a:ext>
            </a:extLst>
          </p:cNvPr>
          <p:cNvSpPr>
            <a:spLocks xmlns:a="http://schemas.openxmlformats.org/drawingml/2006/main" noGrp="1"/>
          </p:cNvSpPr>
          <p:nvPr/>
        </p:nvSpPr>
        <p:spPr>
          <a:xfrm xmlns:a="http://schemas.openxmlformats.org/drawingml/2006/main">
            <a:off x="8286750" y="5429250"/>
            <a:ext cx="2238375" cy="952500"/>
          </a:xfrm>
          <a:prstGeom xmlns:a="http://schemas.openxmlformats.org/drawingml/2006/main" prst="roundRect">
            <a:avLst>
              <a:gd name="adj" fmla="val 8000"/>
            </a:avLst>
          </a:prstGeom>
          <a:solidFill xmlns:a="http://schemas.openxmlformats.org/drawingml/2006/main">
            <a:srgbClr val="E8F7EB"/>
          </a:solidFill>
          <a:ln xmlns:a="http://schemas.openxmlformats.org/drawingml/2006/main" w="9525">
            <a:noFill/>
          </a:ln>
        </p:spPr>
      </p:sp>
      <p:sp>
        <p:nvSpPr>
          <p:cNvPr id="30" name="">
            <a:extLst xmlns:a="http://schemas.openxmlformats.org/drawingml/2006/main">
              <a:ext uri="{FF2B5EF4-FFF2-40B4-BE49-F238E27FC236}">
                <a16:creationId xmlns:a16="http://schemas.microsoft.com/office/drawing/2014/main" id="{8E557B1F-BABB-4705-AC46-73EB6B058349}"/>
              </a:ext>
            </a:extLst>
          </p:cNvPr>
          <p:cNvSpPr>
            <a:spLocks xmlns:a="http://schemas.openxmlformats.org/drawingml/2006/main" noGrp="1"/>
          </p:cNvSpPr>
          <p:nvPr/>
        </p:nvSpPr>
        <p:spPr>
          <a:xfrm xmlns:a="http://schemas.openxmlformats.org/drawingml/2006/main">
            <a:off x="8477250" y="5581650"/>
            <a:ext cx="1857375" cy="533400"/>
          </a:xfrm>
          <a:prstGeom xmlns:a="http://schemas.openxmlformats.org/drawingml/2006/main" prst="rect">
            <a:avLst/>
          </a:prstGeom>
          <a:solidFill xmlns:a="http://schemas.openxmlformats.org/drawingml/2006/main">
            <a:srgbClr val="E8F7E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2550" b="1">
                <a:solidFill>
                  <a:srgbClr val="152235"/>
                </a:solidFill>
              </a:defRPr>
            </a:pPr>
            <a:r>
              <a:rPr sz="2550" b="1">
                <a:solidFill>
                  <a:srgbClr val="152235"/>
                </a:solidFill>
              </a:rPr>
              <a:t>1</a:t>
            </a:r>
          </a:p>
        </p:txBody>
      </p:sp>
      <p:sp>
        <p:nvSpPr>
          <p:cNvPr id="31" name="">
            <a:extLst xmlns:a="http://schemas.openxmlformats.org/drawingml/2006/main">
              <a:ext uri="{FF2B5EF4-FFF2-40B4-BE49-F238E27FC236}">
                <a16:creationId xmlns:a16="http://schemas.microsoft.com/office/drawing/2014/main" id="{A1CDEAD5-5FC6-4B29-83BC-1D66E1E018DD}"/>
              </a:ext>
            </a:extLst>
          </p:cNvPr>
          <p:cNvSpPr>
            <a:spLocks xmlns:a="http://schemas.openxmlformats.org/drawingml/2006/main" noGrp="1"/>
          </p:cNvSpPr>
          <p:nvPr/>
        </p:nvSpPr>
        <p:spPr>
          <a:xfrm xmlns:a="http://schemas.openxmlformats.org/drawingml/2006/main">
            <a:off x="8439150" y="6134100"/>
            <a:ext cx="1933575" cy="457200"/>
          </a:xfrm>
          <a:prstGeom xmlns:a="http://schemas.openxmlformats.org/drawingml/2006/main" prst="rect">
            <a:avLst/>
          </a:prstGeom>
          <a:solidFill xmlns:a="http://schemas.openxmlformats.org/drawingml/2006/main">
            <a:srgbClr val="E8F7EB"/>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ctr">
              <a:defRPr sz="1200" b="1">
                <a:solidFill>
                  <a:srgbClr val="5F6D7F"/>
                </a:solidFill>
              </a:defRPr>
            </a:pPr>
            <a:r>
              <a:rPr sz="1200" b="1">
                <a:solidFill>
                  <a:srgbClr val="5F6D7F"/>
                </a:solidFill>
              </a:rPr>
              <a:t>public entrypoint</a:t>
            </a:r>
          </a:p>
        </p:txBody>
      </p:sp>
    </p:spTree>
    <p:extLst>
      <p:ext uri="{BB962C8B-B14F-4D97-AF65-F5344CB8AC3E}">
        <p14:creationId xmlns:p14="http://schemas.microsoft.com/office/powerpoint/2010/main" val="217638805"/>
      </p:ext>
    </p:extLst>
  </p:cSld>
</p:sld>
</file>

<file path=ppt/slides/slide10.xml><?xml version="1.0" encoding="utf-8"?>
<p:sld xmlns:p="http://schemas.openxmlformats.org/presentationml/2006/main">
  <p:cSld>
    <p:bg>
      <p:bgPr>
        <a:solidFill xmlns:a="http://schemas.openxmlformats.org/drawingml/2006/main">
          <a:srgbClr val="081423"/>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C1DC8211-31E6-422C-BAFD-AE1891C45EE3}"/>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669BC7D4-D082-4B69-A0E8-79F90A16EC3B}"/>
              </a:ext>
            </a:extLst>
          </p:cNvPr>
          <p:cNvSpPr>
            <a:spLocks xmlns:a="http://schemas.openxmlformats.org/drawingml/2006/main" noGrp="1"/>
          </p:cNvSpPr>
          <p:nvPr/>
        </p:nvSpPr>
        <p:spPr>
          <a:xfrm xmlns:a="http://schemas.openxmlformats.org/drawingml/2006/main">
            <a:off x="0" y="0"/>
            <a:ext cx="1714500" cy="6858000"/>
          </a:xfrm>
          <a:prstGeom xmlns:a="http://schemas.openxmlformats.org/drawingml/2006/main" prst="rect">
            <a:avLst/>
          </a:prstGeom>
          <a:solidFill xmlns:a="http://schemas.openxmlformats.org/drawingml/2006/main">
            <a:srgbClr val="11263F"/>
          </a:solidFill>
          <a:ln xmlns:a="http://schemas.openxmlformats.org/drawingml/2006/main">
            <a:noFill/>
          </a:ln>
        </p:spPr>
      </p:sp>
      <p:sp>
        <p:nvSpPr>
          <p:cNvPr id="3" name="">
            <a:extLst xmlns:a="http://schemas.openxmlformats.org/drawingml/2006/main">
              <a:ext uri="{FF2B5EF4-FFF2-40B4-BE49-F238E27FC236}">
                <a16:creationId xmlns:a16="http://schemas.microsoft.com/office/drawing/2014/main" id="{86BC2B57-EE6D-4F2B-8941-CA854A0718E3}"/>
              </a:ext>
            </a:extLst>
          </p:cNvPr>
          <p:cNvSpPr>
            <a:spLocks xmlns:a="http://schemas.openxmlformats.org/drawingml/2006/main" noGrp="1"/>
          </p:cNvSpPr>
          <p:nvPr/>
        </p:nvSpPr>
        <p:spPr>
          <a:xfrm xmlns:a="http://schemas.openxmlformats.org/drawingml/2006/main">
            <a:off x="7810500" y="4000500"/>
            <a:ext cx="4095750" cy="4095750"/>
          </a:xfrm>
          <a:prstGeom xmlns:a="http://schemas.openxmlformats.org/drawingml/2006/main" prst="ellipse">
            <a:avLst/>
          </a:prstGeom>
          <a:solidFill xmlns:a="http://schemas.openxmlformats.org/drawingml/2006/main">
            <a:srgbClr val="F0B35D">
              <a:alpha val="18039"/>
            </a:srgbClr>
          </a:solidFill>
          <a:ln xmlns:a="http://schemas.openxmlformats.org/drawingml/2006/main">
            <a:noFill/>
          </a:ln>
        </p:spPr>
      </p:sp>
      <p:sp>
        <p:nvSpPr>
          <p:cNvPr id="4" name="">
            <a:extLst xmlns:a="http://schemas.openxmlformats.org/drawingml/2006/main">
              <a:ext uri="{FF2B5EF4-FFF2-40B4-BE49-F238E27FC236}">
                <a16:creationId xmlns:a16="http://schemas.microsoft.com/office/drawing/2014/main" id="{DB7FEF9D-8B54-4183-8210-FF4714A0794C}"/>
              </a:ext>
            </a:extLst>
          </p:cNvPr>
          <p:cNvSpPr>
            <a:spLocks xmlns:a="http://schemas.openxmlformats.org/drawingml/2006/main" noGrp="1"/>
          </p:cNvSpPr>
          <p:nvPr/>
        </p:nvSpPr>
        <p:spPr>
          <a:xfrm xmlns:a="http://schemas.openxmlformats.org/drawingml/2006/main">
            <a:off x="857250" y="1047750"/>
            <a:ext cx="7048500" cy="1143000"/>
          </a:xfrm>
          <a:prstGeom xmlns:a="http://schemas.openxmlformats.org/drawingml/2006/main" prst="rect">
            <a:avLst/>
          </a:prstGeom>
          <a:solidFill xmlns:a="http://schemas.openxmlformats.org/drawingml/2006/main">
            <a:srgbClr val="081423"/>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2850" b="1">
                <a:solidFill>
                  <a:srgbClr val="FFFFFF"/>
                </a:solidFill>
              </a:defRPr>
            </a:pPr>
            <a:r>
              <a:rPr sz="2850" b="1">
                <a:solidFill>
                  <a:srgbClr val="FFFFFF"/>
                </a:solidFill>
              </a:rPr>
              <a:t>DABB.ai</a:t>
            </a:r>
          </a:p>
          <a:p xmlns:a="http://schemas.openxmlformats.org/drawingml/2006/main">
            <a:pPr algn="l">
              <a:defRPr sz="2850" b="1">
                <a:solidFill>
                  <a:srgbClr val="FFFFFF"/>
                </a:solidFill>
              </a:defRPr>
            </a:pPr>
            <a:r>
              <a:rPr sz="2850" b="1">
                <a:solidFill>
                  <a:srgbClr val="FFFFFF"/>
                </a:solidFill>
              </a:rPr>
              <a:t>Ready for final submission</a:t>
            </a:r>
          </a:p>
        </p:txBody>
      </p:sp>
      <p:sp>
        <p:nvSpPr>
          <p:cNvPr id="5" name="">
            <a:extLst xmlns:a="http://schemas.openxmlformats.org/drawingml/2006/main">
              <a:ext uri="{FF2B5EF4-FFF2-40B4-BE49-F238E27FC236}">
                <a16:creationId xmlns:a16="http://schemas.microsoft.com/office/drawing/2014/main" id="{E99C807A-9F12-40E3-861C-A1009763D3BA}"/>
              </a:ext>
            </a:extLst>
          </p:cNvPr>
          <p:cNvSpPr>
            <a:spLocks xmlns:a="http://schemas.openxmlformats.org/drawingml/2006/main" noGrp="1"/>
          </p:cNvSpPr>
          <p:nvPr/>
        </p:nvSpPr>
        <p:spPr>
          <a:xfrm xmlns:a="http://schemas.openxmlformats.org/drawingml/2006/main">
            <a:off x="876300" y="2476500"/>
            <a:ext cx="6858000" cy="762000"/>
          </a:xfrm>
          <a:prstGeom xmlns:a="http://schemas.openxmlformats.org/drawingml/2006/main" prst="rect">
            <a:avLst/>
          </a:prstGeom>
          <a:solidFill xmlns:a="http://schemas.openxmlformats.org/drawingml/2006/main">
            <a:srgbClr val="081423"/>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500" b="0">
                <a:solidFill>
                  <a:srgbClr val="DCE7F5"/>
                </a:solidFill>
              </a:defRPr>
            </a:pPr>
            <a:r>
              <a:rPr sz="1500" b="0">
                <a:solidFill>
                  <a:srgbClr val="DCE7F5"/>
                </a:solidFill>
              </a:rPr>
              <a:t>Milestone 2 keeps the baseline model intact, adds grounded reporting, and ships with a valid 10-slide presentation artifact.</a:t>
            </a:r>
          </a:p>
        </p:txBody>
      </p:sp>
      <p:sp>
        <p:nvSpPr>
          <p:cNvPr id="6" name="">
            <a:extLst xmlns:a="http://schemas.openxmlformats.org/drawingml/2006/main">
              <a:ext uri="{FF2B5EF4-FFF2-40B4-BE49-F238E27FC236}">
                <a16:creationId xmlns:a16="http://schemas.microsoft.com/office/drawing/2014/main" id="{4DEEDD98-268F-4384-A01F-15DF64007B9B}"/>
              </a:ext>
            </a:extLst>
          </p:cNvPr>
          <p:cNvSpPr>
            <a:spLocks xmlns:a="http://schemas.openxmlformats.org/drawingml/2006/main" noGrp="1"/>
          </p:cNvSpPr>
          <p:nvPr/>
        </p:nvSpPr>
        <p:spPr>
          <a:xfrm xmlns:a="http://schemas.openxmlformats.org/drawingml/2006/main">
            <a:off x="857250" y="3714750"/>
            <a:ext cx="3048000" cy="1619250"/>
          </a:xfrm>
          <a:prstGeom xmlns:a="http://schemas.openxmlformats.org/drawingml/2006/main" prst="roundRect">
            <a:avLst>
              <a:gd name="adj" fmla="val 4706"/>
            </a:avLst>
          </a:prstGeom>
          <a:solidFill xmlns:a="http://schemas.openxmlformats.org/drawingml/2006/main">
            <a:srgbClr val="0F2238"/>
          </a:solidFill>
          <a:ln xmlns:a="http://schemas.openxmlformats.org/drawingml/2006/main" w="9525">
            <a:solidFill>
              <a:srgbClr val="D8E1EB"/>
            </a:solidFill>
          </a:ln>
        </p:spPr>
      </p:sp>
      <p:sp>
        <p:nvSpPr>
          <p:cNvPr id="7" name="">
            <a:extLst xmlns:a="http://schemas.openxmlformats.org/drawingml/2006/main">
              <a:ext uri="{FF2B5EF4-FFF2-40B4-BE49-F238E27FC236}">
                <a16:creationId xmlns:a16="http://schemas.microsoft.com/office/drawing/2014/main" id="{F3B77A1A-32B4-44DA-9C4E-35ED2C19F537}"/>
              </a:ext>
            </a:extLst>
          </p:cNvPr>
          <p:cNvSpPr>
            <a:spLocks xmlns:a="http://schemas.openxmlformats.org/drawingml/2006/main" noGrp="1"/>
          </p:cNvSpPr>
          <p:nvPr/>
        </p:nvSpPr>
        <p:spPr>
          <a:xfrm xmlns:a="http://schemas.openxmlformats.org/drawingml/2006/main">
            <a:off x="1009650" y="3867150"/>
            <a:ext cx="114300" cy="1314450"/>
          </a:xfrm>
          <a:prstGeom xmlns:a="http://schemas.openxmlformats.org/drawingml/2006/main" prst="roundRect">
            <a:avLst>
              <a:gd name="adj" fmla="val 50000"/>
            </a:avLst>
          </a:prstGeom>
          <a:solidFill xmlns:a="http://schemas.openxmlformats.org/drawingml/2006/main">
            <a:srgbClr val="2DB7A3"/>
          </a:solidFill>
          <a:ln xmlns:a="http://schemas.openxmlformats.org/drawingml/2006/main">
            <a:noFill/>
          </a:ln>
        </p:spPr>
      </p:sp>
      <p:sp>
        <p:nvSpPr>
          <p:cNvPr id="8" name="">
            <a:extLst xmlns:a="http://schemas.openxmlformats.org/drawingml/2006/main">
              <a:ext uri="{FF2B5EF4-FFF2-40B4-BE49-F238E27FC236}">
                <a16:creationId xmlns:a16="http://schemas.microsoft.com/office/drawing/2014/main" id="{7E4FFE97-CAAE-4791-A3C1-D161D90FBF54}"/>
              </a:ext>
            </a:extLst>
          </p:cNvPr>
          <p:cNvSpPr>
            <a:spLocks xmlns:a="http://schemas.openxmlformats.org/drawingml/2006/main" noGrp="1"/>
          </p:cNvSpPr>
          <p:nvPr/>
        </p:nvSpPr>
        <p:spPr>
          <a:xfrm xmlns:a="http://schemas.openxmlformats.org/drawingml/2006/main">
            <a:off x="1238250" y="3886200"/>
            <a:ext cx="2514600" cy="323850"/>
          </a:xfrm>
          <a:prstGeom xmlns:a="http://schemas.openxmlformats.org/drawingml/2006/main" prst="rect">
            <a:avLst/>
          </a:prstGeom>
          <a:solidFill xmlns:a="http://schemas.openxmlformats.org/drawingml/2006/main">
            <a:srgbClr val="0F2238"/>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What is ready</a:t>
            </a:r>
          </a:p>
        </p:txBody>
      </p:sp>
      <p:sp>
        <p:nvSpPr>
          <p:cNvPr id="9" name="">
            <a:extLst xmlns:a="http://schemas.openxmlformats.org/drawingml/2006/main">
              <a:ext uri="{FF2B5EF4-FFF2-40B4-BE49-F238E27FC236}">
                <a16:creationId xmlns:a16="http://schemas.microsoft.com/office/drawing/2014/main" id="{A00E50F1-AC4D-4D41-A610-85FE1D7DA8C3}"/>
              </a:ext>
            </a:extLst>
          </p:cNvPr>
          <p:cNvSpPr>
            <a:spLocks xmlns:a="http://schemas.openxmlformats.org/drawingml/2006/main" noGrp="1"/>
          </p:cNvSpPr>
          <p:nvPr/>
        </p:nvSpPr>
        <p:spPr>
          <a:xfrm xmlns:a="http://schemas.openxmlformats.org/drawingml/2006/main">
            <a:off x="1238250" y="4267200"/>
            <a:ext cx="2514600" cy="933450"/>
          </a:xfrm>
          <a:prstGeom xmlns:a="http://schemas.openxmlformats.org/drawingml/2006/main" prst="rect">
            <a:avLst/>
          </a:prstGeom>
          <a:solidFill xmlns:a="http://schemas.openxmlformats.org/drawingml/2006/main">
            <a:srgbClr val="0F2238"/>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Public-host startup, reproducible tests, Milestone 2 README, report, and a working PPTX deck.</a:t>
            </a:r>
          </a:p>
        </p:txBody>
      </p:sp>
      <p:sp>
        <p:nvSpPr>
          <p:cNvPr id="10" name="">
            <a:extLst xmlns:a="http://schemas.openxmlformats.org/drawingml/2006/main">
              <a:ext uri="{FF2B5EF4-FFF2-40B4-BE49-F238E27FC236}">
                <a16:creationId xmlns:a16="http://schemas.microsoft.com/office/drawing/2014/main" id="{9A637EFA-3C5A-429E-97B1-19F7DBA127AB}"/>
              </a:ext>
            </a:extLst>
          </p:cNvPr>
          <p:cNvSpPr>
            <a:spLocks xmlns:a="http://schemas.openxmlformats.org/drawingml/2006/main" noGrp="1"/>
          </p:cNvSpPr>
          <p:nvPr/>
        </p:nvSpPr>
        <p:spPr>
          <a:xfrm xmlns:a="http://schemas.openxmlformats.org/drawingml/2006/main">
            <a:off x="4095750" y="3714750"/>
            <a:ext cx="3048000" cy="1619250"/>
          </a:xfrm>
          <a:prstGeom xmlns:a="http://schemas.openxmlformats.org/drawingml/2006/main" prst="roundRect">
            <a:avLst>
              <a:gd name="adj" fmla="val 4706"/>
            </a:avLst>
          </a:prstGeom>
          <a:solidFill xmlns:a="http://schemas.openxmlformats.org/drawingml/2006/main">
            <a:srgbClr val="0F2238"/>
          </a:solidFill>
          <a:ln xmlns:a="http://schemas.openxmlformats.org/drawingml/2006/main" w="9525">
            <a:solidFill>
              <a:srgbClr val="D8E1EB"/>
            </a:solidFill>
          </a:ln>
        </p:spPr>
      </p:sp>
      <p:sp>
        <p:nvSpPr>
          <p:cNvPr id="11" name="">
            <a:extLst xmlns:a="http://schemas.openxmlformats.org/drawingml/2006/main">
              <a:ext uri="{FF2B5EF4-FFF2-40B4-BE49-F238E27FC236}">
                <a16:creationId xmlns:a16="http://schemas.microsoft.com/office/drawing/2014/main" id="{F7C4B98D-A7D6-4E62-8CC2-37532A7D2F59}"/>
              </a:ext>
            </a:extLst>
          </p:cNvPr>
          <p:cNvSpPr>
            <a:spLocks xmlns:a="http://schemas.openxmlformats.org/drawingml/2006/main" noGrp="1"/>
          </p:cNvSpPr>
          <p:nvPr/>
        </p:nvSpPr>
        <p:spPr>
          <a:xfrm xmlns:a="http://schemas.openxmlformats.org/drawingml/2006/main">
            <a:off x="4248150" y="3867150"/>
            <a:ext cx="114300" cy="1314450"/>
          </a:xfrm>
          <a:prstGeom xmlns:a="http://schemas.openxmlformats.org/drawingml/2006/main" prst="roundRect">
            <a:avLst>
              <a:gd name="adj" fmla="val 50000"/>
            </a:avLst>
          </a:prstGeom>
          <a:solidFill xmlns:a="http://schemas.openxmlformats.org/drawingml/2006/main">
            <a:srgbClr val="F0B35D"/>
          </a:solidFill>
          <a:ln xmlns:a="http://schemas.openxmlformats.org/drawingml/2006/main">
            <a:noFill/>
          </a:ln>
        </p:spPr>
      </p:sp>
      <p:sp>
        <p:nvSpPr>
          <p:cNvPr id="12" name="">
            <a:extLst xmlns:a="http://schemas.openxmlformats.org/drawingml/2006/main">
              <a:ext uri="{FF2B5EF4-FFF2-40B4-BE49-F238E27FC236}">
                <a16:creationId xmlns:a16="http://schemas.microsoft.com/office/drawing/2014/main" id="{3F0107E0-2371-4C2F-B44C-AE8DCDD42731}"/>
              </a:ext>
            </a:extLst>
          </p:cNvPr>
          <p:cNvSpPr>
            <a:spLocks xmlns:a="http://schemas.openxmlformats.org/drawingml/2006/main" noGrp="1"/>
          </p:cNvSpPr>
          <p:nvPr/>
        </p:nvSpPr>
        <p:spPr>
          <a:xfrm xmlns:a="http://schemas.openxmlformats.org/drawingml/2006/main">
            <a:off x="4476750" y="3886200"/>
            <a:ext cx="2514600" cy="323850"/>
          </a:xfrm>
          <a:prstGeom xmlns:a="http://schemas.openxmlformats.org/drawingml/2006/main" prst="rect">
            <a:avLst/>
          </a:prstGeom>
          <a:solidFill xmlns:a="http://schemas.openxmlformats.org/drawingml/2006/main">
            <a:srgbClr val="0F2238"/>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What to demo</a:t>
            </a:r>
          </a:p>
        </p:txBody>
      </p:sp>
      <p:sp>
        <p:nvSpPr>
          <p:cNvPr id="13" name="">
            <a:extLst xmlns:a="http://schemas.openxmlformats.org/drawingml/2006/main">
              <a:ext uri="{FF2B5EF4-FFF2-40B4-BE49-F238E27FC236}">
                <a16:creationId xmlns:a16="http://schemas.microsoft.com/office/drawing/2014/main" id="{638D305C-325F-4E99-ABE0-4C718C3770F1}"/>
              </a:ext>
            </a:extLst>
          </p:cNvPr>
          <p:cNvSpPr>
            <a:spLocks xmlns:a="http://schemas.openxmlformats.org/drawingml/2006/main" noGrp="1"/>
          </p:cNvSpPr>
          <p:nvPr/>
        </p:nvSpPr>
        <p:spPr>
          <a:xfrm xmlns:a="http://schemas.openxmlformats.org/drawingml/2006/main">
            <a:off x="4476750" y="4267200"/>
            <a:ext cx="2514600" cy="933450"/>
          </a:xfrm>
          <a:prstGeom xmlns:a="http://schemas.openxmlformats.org/drawingml/2006/main" prst="rect">
            <a:avLst/>
          </a:prstGeom>
          <a:solidFill xmlns:a="http://schemas.openxmlformats.org/drawingml/2006/main">
            <a:srgbClr val="0F2238"/>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Upload a contract, generate the report, inspect evidence, and download the results.</a:t>
            </a:r>
          </a:p>
        </p:txBody>
      </p:sp>
      <p:sp>
        <p:nvSpPr>
          <p:cNvPr id="14" name="">
            <a:extLst xmlns:a="http://schemas.openxmlformats.org/drawingml/2006/main">
              <a:ext uri="{FF2B5EF4-FFF2-40B4-BE49-F238E27FC236}">
                <a16:creationId xmlns:a16="http://schemas.microsoft.com/office/drawing/2014/main" id="{E46E16AC-0932-48ED-94DE-C9652B604F7B}"/>
              </a:ext>
            </a:extLst>
          </p:cNvPr>
          <p:cNvSpPr>
            <a:spLocks xmlns:a="http://schemas.openxmlformats.org/drawingml/2006/main" noGrp="1"/>
          </p:cNvSpPr>
          <p:nvPr/>
        </p:nvSpPr>
        <p:spPr>
          <a:xfrm xmlns:a="http://schemas.openxmlformats.org/drawingml/2006/main">
            <a:off x="7334250" y="3714750"/>
            <a:ext cx="3429000" cy="1619250"/>
          </a:xfrm>
          <a:prstGeom xmlns:a="http://schemas.openxmlformats.org/drawingml/2006/main" prst="roundRect">
            <a:avLst>
              <a:gd name="adj" fmla="val 4706"/>
            </a:avLst>
          </a:prstGeom>
          <a:solidFill xmlns:a="http://schemas.openxmlformats.org/drawingml/2006/main">
            <a:srgbClr val="0F2238"/>
          </a:solidFill>
          <a:ln xmlns:a="http://schemas.openxmlformats.org/drawingml/2006/main" w="9525">
            <a:solidFill>
              <a:srgbClr val="D8E1EB"/>
            </a:solidFill>
          </a:ln>
        </p:spPr>
      </p:sp>
      <p:sp>
        <p:nvSpPr>
          <p:cNvPr id="15" name="">
            <a:extLst xmlns:a="http://schemas.openxmlformats.org/drawingml/2006/main">
              <a:ext uri="{FF2B5EF4-FFF2-40B4-BE49-F238E27FC236}">
                <a16:creationId xmlns:a16="http://schemas.microsoft.com/office/drawing/2014/main" id="{DD54FDB0-D70A-4B8C-9847-29F0C98B8C5D}"/>
              </a:ext>
            </a:extLst>
          </p:cNvPr>
          <p:cNvSpPr>
            <a:spLocks xmlns:a="http://schemas.openxmlformats.org/drawingml/2006/main" noGrp="1"/>
          </p:cNvSpPr>
          <p:nvPr/>
        </p:nvSpPr>
        <p:spPr>
          <a:xfrm xmlns:a="http://schemas.openxmlformats.org/drawingml/2006/main">
            <a:off x="7486650" y="3867150"/>
            <a:ext cx="114300" cy="1314450"/>
          </a:xfrm>
          <a:prstGeom xmlns:a="http://schemas.openxmlformats.org/drawingml/2006/main" prst="roundRect">
            <a:avLst>
              <a:gd name="adj" fmla="val 50000"/>
            </a:avLst>
          </a:prstGeom>
          <a:solidFill xmlns:a="http://schemas.openxmlformats.org/drawingml/2006/main">
            <a:srgbClr val="11263F"/>
          </a:solidFill>
          <a:ln xmlns:a="http://schemas.openxmlformats.org/drawingml/2006/main">
            <a:noFill/>
          </a:ln>
        </p:spPr>
      </p:sp>
      <p:sp>
        <p:nvSpPr>
          <p:cNvPr id="16" name="">
            <a:extLst xmlns:a="http://schemas.openxmlformats.org/drawingml/2006/main">
              <a:ext uri="{FF2B5EF4-FFF2-40B4-BE49-F238E27FC236}">
                <a16:creationId xmlns:a16="http://schemas.microsoft.com/office/drawing/2014/main" id="{66E982BD-556B-41C2-A987-E37933DDB2E5}"/>
              </a:ext>
            </a:extLst>
          </p:cNvPr>
          <p:cNvSpPr>
            <a:spLocks xmlns:a="http://schemas.openxmlformats.org/drawingml/2006/main" noGrp="1"/>
          </p:cNvSpPr>
          <p:nvPr/>
        </p:nvSpPr>
        <p:spPr>
          <a:xfrm xmlns:a="http://schemas.openxmlformats.org/drawingml/2006/main">
            <a:off x="7715250" y="3886200"/>
            <a:ext cx="2895600" cy="323850"/>
          </a:xfrm>
          <a:prstGeom xmlns:a="http://schemas.openxmlformats.org/drawingml/2006/main" prst="rect">
            <a:avLst/>
          </a:prstGeom>
          <a:solidFill xmlns:a="http://schemas.openxmlformats.org/drawingml/2006/main">
            <a:srgbClr val="0F2238"/>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650" b="1">
                <a:solidFill>
                  <a:srgbClr val="FFFFFF"/>
                </a:solidFill>
              </a:defRPr>
            </a:pPr>
            <a:r>
              <a:rPr sz="1650" b="1">
                <a:solidFill>
                  <a:srgbClr val="FFFFFF"/>
                </a:solidFill>
              </a:rPr>
              <a:t>What the grader sees</a:t>
            </a:r>
          </a:p>
        </p:txBody>
      </p:sp>
      <p:sp>
        <p:nvSpPr>
          <p:cNvPr id="17" name="">
            <a:extLst xmlns:a="http://schemas.openxmlformats.org/drawingml/2006/main">
              <a:ext uri="{FF2B5EF4-FFF2-40B4-BE49-F238E27FC236}">
                <a16:creationId xmlns:a16="http://schemas.microsoft.com/office/drawing/2014/main" id="{B708A3A4-646E-4FDE-8929-D9EA39005B40}"/>
              </a:ext>
            </a:extLst>
          </p:cNvPr>
          <p:cNvSpPr>
            <a:spLocks xmlns:a="http://schemas.openxmlformats.org/drawingml/2006/main" noGrp="1"/>
          </p:cNvSpPr>
          <p:nvPr/>
        </p:nvSpPr>
        <p:spPr>
          <a:xfrm xmlns:a="http://schemas.openxmlformats.org/drawingml/2006/main">
            <a:off x="7715250" y="4267200"/>
            <a:ext cx="2895600" cy="933450"/>
          </a:xfrm>
          <a:prstGeom xmlns:a="http://schemas.openxmlformats.org/drawingml/2006/main" prst="rect">
            <a:avLst/>
          </a:prstGeom>
          <a:solidFill xmlns:a="http://schemas.openxmlformats.org/drawingml/2006/main">
            <a:srgbClr val="0F2238"/>
          </a:solidFill>
          <a:ln xmlns:a="http://schemas.openxmlformats.org/drawingml/2006/main">
            <a:noFill/>
          </a:ln>
        </p:spPr>
        <p:txBody>
          <a:bodyPr xmlns:a="http://schemas.openxmlformats.org/drawingml/2006/main"/>
          <a:lstStyle xmlns:a="http://schemas.openxmlformats.org/drawingml/2006/main"/>
          <a:p xmlns:a="http://schemas.openxmlformats.org/drawingml/2006/main">
            <a:pPr algn="l">
              <a:defRPr sz="1200" b="0">
                <a:solidFill>
                  <a:srgbClr val="5F6D7F"/>
                </a:solidFill>
              </a:defRPr>
            </a:pPr>
            <a:r>
              <a:rPr sz="1200" b="0">
                <a:solidFill>
                  <a:srgbClr val="5F6D7F"/>
                </a:solidFill>
              </a:rPr>
              <a:t>A stable repo with a clear deployment path and a clean deck they can open immediately.</a:t>
            </a:r>
          </a:p>
        </p:txBody>
      </p:sp>
    </p:spTree>
    <p:extLst>
      <p:ext uri="{BB962C8B-B14F-4D97-AF65-F5344CB8AC3E}">
        <p14:creationId xmlns:p14="http://schemas.microsoft.com/office/powerpoint/2010/main" val="18422221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2026-04-19T16:41:15.7600000Z</dcterms:created>
  <dcterms:modified xsi:type="dcterms:W3CDTF">2026-04-19T16:41:15.7600000Z</dcterms:modified>
</coreProperties>
</file>